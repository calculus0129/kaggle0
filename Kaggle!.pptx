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1" r:id="rId11"/>
    <p:sldId id="266" r:id="rId12"/>
    <p:sldId id="267" r:id="rId13"/>
    <p:sldId id="268" r:id="rId14"/>
    <p:sldId id="269" r:id="rId15"/>
    <p:sldId id="272" r:id="rId16"/>
    <p:sldId id="271" r:id="rId17"/>
    <p:sldId id="275" r:id="rId18"/>
    <p:sldId id="276" r:id="rId19"/>
    <p:sldId id="270" r:id="rId20"/>
    <p:sldId id="273" r:id="rId21"/>
    <p:sldId id="277" r:id="rId22"/>
    <p:sldId id="279" r:id="rId23"/>
    <p:sldId id="274" r:id="rId24"/>
    <p:sldId id="280" r:id="rId25"/>
    <p:sldId id="283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DF9F-ADA0-4C49-A263-B2AE48107B9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11A69-C4DC-406E-8104-7D6732DB19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11A69-C4DC-406E-8104-7D6732DB19C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7582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C11A69-C4DC-406E-8104-7D6732DB19C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755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C78A-F4CD-0FDA-EC88-24C016C4A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7C650-9D3B-E309-69E6-CD9E18D58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04841-5E1A-4BD5-92E4-C8D181E46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91989-5B69-E244-F458-BA2D26913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D094A-D779-1AA8-12A5-1D895845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78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2D0B-54B0-6613-4569-B5881188A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95482-8AFD-B092-D6C6-9DED14291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EBB9E-5AE4-738D-FA61-E8D070F40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6DB14-BE06-67B1-CCCF-FCC99E498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17EF8-9DC1-87EE-E77F-5E05F93F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2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475D4-5CD8-0275-2620-284E8726E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643A6-94E2-BF40-CF05-22B6AF683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15448-2313-97BE-0E13-9A3151A3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F6E3A-02A4-3D05-A9F3-7269D8E5D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1AE9E-E0C6-45B3-5FB3-EA2EFF4B2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8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E8C1-83F4-9CBF-D99F-E0DA55B16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781AC-CA49-0172-E91E-2F1A76761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AEB34-6D8A-D27B-9531-B692042B6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BEA4B-3CEF-C2F1-F7F5-22FC3642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B1AA3-16C2-0775-6F66-D3B2D31B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8D5560-C456-A5AB-11C8-1B6046ED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423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9FC30-E8C3-356D-172F-2766C812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ADB18-D63A-D291-8475-A453E04F6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782FCE-2B6C-A3F4-5721-AC17502911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F1286A-B462-7A53-EF71-CF9087087D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D4611D-F33A-F838-5447-2180A329B7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F7A97F-A5BC-0B0B-889F-944704133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36B8DF-5C78-4EA4-254E-774CB71A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2D90F-F225-BE15-76DD-A5EE779CE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4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81E0D-5EEC-DF21-2A69-4F07330FF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09D7-2167-7005-A150-447CED8D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D2E2BF-E374-3DBE-D8DB-85BDF1E1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DFCDA0-D921-DEB9-FD8E-DD47118B1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927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8E1A54-B8BB-F1C0-5FFE-EA35B66CB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93D83E-4AB5-DA60-4263-B2AF1696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9D5B0-B383-D3C0-9FCF-5118791DB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07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7212-AF07-92F8-B1F9-AB1F8192B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50FC9-FA3C-A1F5-F5F9-AD2E33F8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28CD51-724D-2A5D-F773-32F25081F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381B7-7206-940F-3662-CBDB9A08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0D2C9-C78F-AFFC-AE7D-16BE820D6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ADF8E-EC42-D60A-C9A0-A0B7A8A5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569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8803-2949-71C8-037B-B365FCD5C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6590F4-D142-5168-71A0-A55AF5D95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032CF9-03CB-DCBF-1D6C-662282074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0A80B-88ED-F56E-FE73-EC5911BD9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E0D1D-5CED-656C-C16F-72EBF4E4E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229A6-106C-047D-A551-D9DD5756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078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2DA4-1173-9AAD-DE24-EEDF9568F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80DB68-88C7-B088-61F0-4B6FD7C8BA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E2458-677E-2FDD-A4B0-0B9519535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A8C29-4BCD-0119-3EAA-548C720D1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A19BD-0211-EB12-644F-6C2AF7645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46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22459-D0F4-280E-B70F-753BBED95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2DA24B-4274-FFFE-AE92-0BA71BBC3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E71E9-CB92-AE50-9AF0-1F4DCDF41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87160-B5BD-4FFA-C32A-6AD7BC6CB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36B3C-2B36-B138-D77D-DA1FADA1C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36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34042D-1FE3-35EE-EB21-53FE4BF71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0F2E6-4584-42A5-F586-2EDC903CA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131ED-CE28-C005-019F-4E34AC87F8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8BF7D9-AC52-4AC2-BEDB-A5D1257FD4A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55C63-3347-2686-0219-3664FF670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07C1E-6AEB-4ED0-8C97-05F0E0721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614A9-5EB2-4A52-A0DF-3511FE3F92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0BBDF-1F9C-E2DA-46DB-10E32DD00B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Kaggle!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AAD2D-036B-1777-B967-388659D5E9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557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24E7-64A5-6CAB-7E8A-A108B704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6DD49-DAFD-0236-7D77-38DBCDD8CA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What is Kaggle?</a:t>
            </a:r>
          </a:p>
          <a:p>
            <a:r>
              <a:rPr lang="en-US"/>
              <a:t>How to start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5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9E77E-8909-5F48-22E9-AFF52097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Kaggle?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9ABC3-B479-FDD6-0A21-52EDEDD66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Kaggle has:</a:t>
            </a:r>
          </a:p>
          <a:p>
            <a:pPr lvl="1"/>
            <a:r>
              <a:rPr lang="en-US"/>
              <a:t>Intro courses to ML (and LLMs)</a:t>
            </a:r>
          </a:p>
          <a:p>
            <a:pPr lvl="1"/>
            <a:r>
              <a:rPr lang="en-US"/>
              <a:t>DataSets</a:t>
            </a:r>
          </a:p>
          <a:p>
            <a:pPr lvl="1"/>
            <a:r>
              <a:rPr lang="en-US"/>
              <a:t>Various models from other users</a:t>
            </a:r>
          </a:p>
          <a:p>
            <a:pPr lvl="1"/>
            <a:r>
              <a:rPr lang="en-US"/>
              <a:t>Data-Related Competitions</a:t>
            </a:r>
          </a:p>
          <a:p>
            <a:pPr lvl="1"/>
            <a:r>
              <a:rPr lang="en-US"/>
              <a:t>Colab-like Notebook (to run Pythons, etc.)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62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EA4F-E4AE-CD64-4C64-BDE9E87D2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do: Intro to Machine Learning!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6F1A7-F40E-4567-5B52-05C4701E7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https://www.kaggle.com/learn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59A01-0CC0-D5A5-B71A-2BC1D84BE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83444"/>
            <a:ext cx="6779821" cy="36935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B60847-02D6-4350-9243-70AB0E7A3EA9}"/>
              </a:ext>
            </a:extLst>
          </p:cNvPr>
          <p:cNvSpPr txBox="1"/>
          <p:nvPr/>
        </p:nvSpPr>
        <p:spPr>
          <a:xfrm>
            <a:off x="838200" y="12041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https://www.kaggle.com/learn/intro-to-machine-learning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40651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BE3FB-0D06-8486-9D72-5DD6C7EF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Kaggle Notebook?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9A2D6-E9E5-F468-91B5-976591EDD9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Much-like Colab jupyter notebook, etc., but suggested to be better than colab.</a:t>
            </a:r>
          </a:p>
          <a:p>
            <a:pPr lvl="1"/>
            <a:r>
              <a:rPr lang="en-US"/>
              <a:t>kaggle.com/code</a:t>
            </a:r>
          </a:p>
          <a:p>
            <a:r>
              <a:rPr lang="en-US"/>
              <a:t>Usage:</a:t>
            </a:r>
          </a:p>
          <a:p>
            <a:pPr lvl="1"/>
            <a:r>
              <a:rPr lang="en-US"/>
              <a:t>Shift+Enter </a:t>
            </a:r>
            <a:r>
              <a:rPr lang="en-US">
                <a:sym typeface="Wingdings" panose="05000000000000000000" pitchFamily="2" charset="2"/>
              </a:rPr>
              <a:t> Execute &amp; move next cell (creates if not exists)</a:t>
            </a:r>
            <a:endParaRPr lang="en-US"/>
          </a:p>
          <a:p>
            <a:r>
              <a:rPr lang="en-US"/>
              <a:t>docs: https://www.kaggle.com/docs/notebooks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5C24D3E-AD0E-7FC3-B3A3-529ED55645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44557" y="1825625"/>
            <a:ext cx="403688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21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A59F5-6FD8-9574-B7C1-8DA1AF0F4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Kaggle Datasets?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251E9E4-3AF9-94F5-D005-84E47457E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7788" y="1825625"/>
            <a:ext cx="7336424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A3C0A8-2279-C50D-C0D6-822FB655C6A3}"/>
              </a:ext>
            </a:extLst>
          </p:cNvPr>
          <p:cNvSpPr txBox="1"/>
          <p:nvPr/>
        </p:nvSpPr>
        <p:spPr>
          <a:xfrm>
            <a:off x="609600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https://www.kaggle.com/datasets/dansbecker/melbourne-housing-snapshot</a:t>
            </a:r>
          </a:p>
        </p:txBody>
      </p:sp>
    </p:spTree>
    <p:extLst>
      <p:ext uri="{BB962C8B-B14F-4D97-AF65-F5344CB8AC3E}">
        <p14:creationId xmlns:p14="http://schemas.microsoft.com/office/powerpoint/2010/main" val="2474841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87525-646D-943A-B9B1-10AD74F28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Download to the Notebook!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AFE431-B13F-27A2-56FE-F5CB8B9AB9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0587" y="1825625"/>
            <a:ext cx="80708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48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10A8-F740-01AC-8291-0A49E9915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Exercise!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D4C21E-E965-BA23-8B91-0E0DA576538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238546"/>
            <a:ext cx="5181600" cy="352549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D5C6F3-5730-0455-C1C8-C5CE7F4FDA3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55206-6A2B-D1D0-9883-BD29F5BCFB57}"/>
              </a:ext>
            </a:extLst>
          </p:cNvPr>
          <p:cNvSpPr txBox="1"/>
          <p:nvPr/>
        </p:nvSpPr>
        <p:spPr>
          <a:xfrm>
            <a:off x="0" y="-42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https://www.kaggle.com/kernels/fork/1258954</a:t>
            </a:r>
          </a:p>
        </p:txBody>
      </p:sp>
    </p:spTree>
    <p:extLst>
      <p:ext uri="{BB962C8B-B14F-4D97-AF65-F5344CB8AC3E}">
        <p14:creationId xmlns:p14="http://schemas.microsoft.com/office/powerpoint/2010/main" val="416379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FFDA5-5CE1-18B0-91A6-7B9F1717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Exercise! (exercises on what learned form the ‘learning website’)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B34334E-6659-B1F8-1E77-ED37B115B2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343537"/>
            <a:ext cx="5181600" cy="3315514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12DAACC-9869-DD24-9065-9D891EBD00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88524"/>
            <a:ext cx="5181600" cy="30809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F44D74-50A0-5D1D-6E2F-79F2ED975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1" y="4759327"/>
            <a:ext cx="3098800" cy="204270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2A620D-CC68-B8DC-F74E-3327009C48AD}"/>
              </a:ext>
            </a:extLst>
          </p:cNvPr>
          <p:cNvSpPr txBox="1"/>
          <p:nvPr/>
        </p:nvSpPr>
        <p:spPr>
          <a:xfrm>
            <a:off x="143934" y="64928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https://www.kaggle.com/discussions/getting-started/60581</a:t>
            </a:r>
          </a:p>
        </p:txBody>
      </p:sp>
    </p:spTree>
    <p:extLst>
      <p:ext uri="{BB962C8B-B14F-4D97-AF65-F5344CB8AC3E}">
        <p14:creationId xmlns:p14="http://schemas.microsoft.com/office/powerpoint/2010/main" val="627747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0BB6-7086-E060-E636-5A2D12B36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 code?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27F8D9-C702-52BF-E382-E72E596E28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74167"/>
            <a:ext cx="5181600" cy="3654253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B270BBC-DF24-CF5E-CEC4-F3107D717FE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ChatGPT says that this is simply for local downloading the result of Kaggle notebooks.</a:t>
            </a:r>
          </a:p>
          <a:p>
            <a:r>
              <a:rPr lang="en-US"/>
              <a:t>For beginners, almost 100% not necessary.</a:t>
            </a:r>
          </a:p>
          <a:p>
            <a:r>
              <a:rPr lang="en-US"/>
              <a:t>Used for</a:t>
            </a:r>
          </a:p>
          <a:p>
            <a:pPr lvl="1"/>
            <a:r>
              <a:rPr lang="en-US"/>
              <a:t>local analysis / reproduction</a:t>
            </a:r>
          </a:p>
          <a:p>
            <a:pPr lvl="1"/>
            <a:r>
              <a:rPr lang="en-US"/>
              <a:t>automizing competition</a:t>
            </a:r>
          </a:p>
          <a:p>
            <a:pPr lvl="1"/>
            <a:r>
              <a:rPr lang="en-US"/>
              <a:t>extracting only the results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C8EF07-C2C6-88B8-C3C8-F0877CA5C62A}"/>
              </a:ext>
            </a:extLst>
          </p:cNvPr>
          <p:cNvSpPr txBox="1"/>
          <p:nvPr/>
        </p:nvSpPr>
        <p:spPr>
          <a:xfrm>
            <a:off x="5418667" y="70474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https://www.kaggle.com/code/dansbecker/basic-data-exploration/data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094F86-E9AB-D2D7-7C19-A62C0A758B95}"/>
              </a:ext>
            </a:extLst>
          </p:cNvPr>
          <p:cNvSpPr txBox="1"/>
          <p:nvPr/>
        </p:nvSpPr>
        <p:spPr>
          <a:xfrm>
            <a:off x="76200" y="5988733"/>
            <a:ext cx="6019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kaggle kernels output dansbecker/basic-data-exploration -p ./output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287D1E-6730-5DC3-9A50-982156E19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3800" y="2030303"/>
            <a:ext cx="4910628" cy="480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086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E750-09C1-08C1-733B-43BAEF490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TIP: Notebook sidebar tab </a:t>
            </a:r>
            <a:r>
              <a:rPr lang="ko-KR" altLang="en-US"/>
              <a:t>안보일 때</a:t>
            </a:r>
            <a:r>
              <a:rPr lang="en-US" altLang="ko-KR"/>
              <a:t>!</a:t>
            </a:r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87D4655-9AC0-A143-9964-10CD2FB7D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4268" y="1825625"/>
            <a:ext cx="8083463" cy="4351338"/>
          </a:xfrm>
          <a:prstGeom prst="rect">
            <a:avLst/>
          </a:prstGeom>
        </p:spPr>
      </p:pic>
      <p:sp>
        <p:nvSpPr>
          <p:cNvPr id="9" name="Arrow: Down 8">
            <a:extLst>
              <a:ext uri="{FF2B5EF4-FFF2-40B4-BE49-F238E27FC236}">
                <a16:creationId xmlns:a16="http://schemas.microsoft.com/office/drawing/2014/main" id="{626116F1-3D31-82DE-60B6-4FA20045C7E1}"/>
              </a:ext>
            </a:extLst>
          </p:cNvPr>
          <p:cNvSpPr/>
          <p:nvPr/>
        </p:nvSpPr>
        <p:spPr>
          <a:xfrm>
            <a:off x="9499600" y="3937001"/>
            <a:ext cx="1134533" cy="1887008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5598CD-0B6A-95D7-063E-B40AEE9924D5}"/>
              </a:ext>
            </a:extLst>
          </p:cNvPr>
          <p:cNvSpPr txBox="1"/>
          <p:nvPr/>
        </p:nvSpPr>
        <p:spPr>
          <a:xfrm>
            <a:off x="9261390" y="6168774"/>
            <a:ext cx="26997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 쪼꼬만걸 누르면 된다</a:t>
            </a:r>
            <a:r>
              <a:rPr lang="en-US" altLang="ko-KR"/>
              <a:t>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16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866F3-C5E8-5834-2429-DC4B50E93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1E691F-2C09-2E8C-6F23-7E589F7E39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745" y="1825625"/>
            <a:ext cx="815450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40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F3211-70CC-E7A9-D4D5-F4B5A741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260206 - Kaggle Pandas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05F37-AA7B-1C97-D748-8464DDE28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6</a:t>
            </a:r>
            <a:r>
              <a:rPr lang="ko-KR" altLang="en-US"/>
              <a:t>개 </a:t>
            </a:r>
            <a:r>
              <a:rPr lang="en-US" altLang="ko-KR"/>
              <a:t>sub-category</a:t>
            </a:r>
            <a:r>
              <a:rPr lang="ko-KR" altLang="en-US"/>
              <a:t>가 존재한다</a:t>
            </a:r>
            <a:r>
              <a:rPr lang="en-US" altLang="ko-KR"/>
              <a:t>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Creating,</a:t>
            </a:r>
            <a:r>
              <a:rPr lang="ko-KR" altLang="en-US"/>
              <a:t> </a:t>
            </a:r>
            <a:r>
              <a:rPr lang="en-US" altLang="ko-KR"/>
              <a:t>Reading</a:t>
            </a:r>
            <a:r>
              <a:rPr lang="ko-KR" altLang="en-US"/>
              <a:t> </a:t>
            </a:r>
            <a:r>
              <a:rPr lang="en-US" altLang="ko-KR"/>
              <a:t>ad</a:t>
            </a:r>
            <a:r>
              <a:rPr lang="ko-KR" altLang="en-US"/>
              <a:t> </a:t>
            </a:r>
            <a:r>
              <a:rPr lang="en-US" altLang="ko-KR"/>
              <a:t>Writing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Indexing, Selecting &amp; Assigning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Summary Functions and Maps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Grouping and Sorting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Data Types and Missing Values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Renaming and Combining</a:t>
            </a:r>
          </a:p>
          <a:p>
            <a:r>
              <a:rPr lang="ko-KR" altLang="en-US"/>
              <a:t>오전</a:t>
            </a:r>
            <a:r>
              <a:rPr lang="en-US" altLang="ko-KR"/>
              <a:t>: 1, 2</a:t>
            </a:r>
            <a:r>
              <a:rPr lang="ko-KR" altLang="en-US"/>
              <a:t>번을 했다</a:t>
            </a:r>
            <a:r>
              <a:rPr lang="en-US" altLang="ko-KR"/>
              <a:t>.</a:t>
            </a:r>
          </a:p>
          <a:p>
            <a:r>
              <a:rPr lang="ko-KR" altLang="en-US"/>
              <a:t>오후</a:t>
            </a:r>
            <a:r>
              <a:rPr lang="en-US" altLang="ko-KR"/>
              <a:t>: 3</a:t>
            </a:r>
            <a:r>
              <a:rPr lang="ko-KR" altLang="en-US"/>
              <a:t>번 겨우 끝내고 </a:t>
            </a:r>
            <a:r>
              <a:rPr lang="en-US" altLang="ko-KR"/>
              <a:t>4</a:t>
            </a:r>
            <a:r>
              <a:rPr lang="ko-KR" altLang="en-US"/>
              <a:t>번 시도하다가 못하는거 알고 일단 여기까지함</a:t>
            </a:r>
            <a:endParaRPr lang="en-US" altLang="ko-KR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839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D9A87-388C-78BF-D35F-A4A0089F4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/>
              <a:t>인상적이었던 점</a:t>
            </a:r>
            <a:br>
              <a:rPr lang="en-US" altLang="ko-KR"/>
            </a:br>
            <a:r>
              <a:rPr lang="en-US" altLang="ko-KR"/>
              <a:t>:</a:t>
            </a:r>
            <a:r>
              <a:rPr lang="ko-KR" altLang="en-US"/>
              <a:t> 문제가 많이 불분명했다</a:t>
            </a:r>
            <a:r>
              <a:rPr lang="en-US" altLang="ko-KR"/>
              <a:t>. </a:t>
            </a:r>
            <a:r>
              <a:rPr lang="en-US" altLang="ko-KR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깊이 파다가 시간 </a:t>
            </a:r>
            <a:r>
              <a:rPr lang="en-US" altLang="ko-KR">
                <a:sym typeface="Wingdings" panose="05000000000000000000" pitchFamily="2" charset="2"/>
              </a:rPr>
              <a:t>+ </a:t>
            </a:r>
            <a:r>
              <a:rPr lang="ko-KR" altLang="en-US">
                <a:sym typeface="Wingdings" panose="05000000000000000000" pitchFamily="2" charset="2"/>
              </a:rPr>
              <a:t>머리 소모됨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6F394-6D3D-40B1-06B3-18D96725F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문제가 어려웠다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문제에 필요한 지식을 배운 적이 없는데 그걸로 딸깍 답을 냈음 </a:t>
            </a:r>
            <a:r>
              <a:rPr lang="en-US" altLang="ko-KR"/>
              <a:t>(</a:t>
            </a:r>
            <a:r>
              <a:rPr lang="ko-KR" altLang="en-US"/>
              <a:t>나는 혼자서 기존 지식만으로 겨우 해냈지만</a:t>
            </a:r>
            <a:r>
              <a:rPr lang="en-US" altLang="ko-KR"/>
              <a:t>… </a:t>
            </a:r>
            <a:r>
              <a:rPr lang="ko-KR" altLang="en-US"/>
              <a:t>ㅇㅇ</a:t>
            </a:r>
            <a:r>
              <a:rPr lang="en-US" altLang="ko-KR"/>
              <a:t>)</a:t>
            </a:r>
          </a:p>
          <a:p>
            <a:pPr lvl="2"/>
            <a:r>
              <a:rPr lang="en-US" altLang="ko-KR"/>
              <a:t>E.g. 3</a:t>
            </a:r>
            <a:r>
              <a:rPr lang="ko-KR" altLang="en-US"/>
              <a:t>강의 </a:t>
            </a:r>
            <a:r>
              <a:rPr lang="en-US" altLang="ko-KR"/>
              <a:t>5</a:t>
            </a:r>
            <a:r>
              <a:rPr lang="ko-KR" altLang="en-US"/>
              <a:t>번 문제</a:t>
            </a:r>
            <a:endParaRPr lang="en-US" altLang="ko-KR"/>
          </a:p>
          <a:p>
            <a:pPr lvl="1"/>
            <a:r>
              <a:rPr lang="ko-KR" altLang="en-US"/>
              <a:t>문제가 너무 불명확하게 주워졌음</a:t>
            </a:r>
            <a:r>
              <a:rPr lang="en-US" altLang="ko-KR"/>
              <a:t>. </a:t>
            </a:r>
            <a:r>
              <a:rPr lang="ko-KR" altLang="en-US"/>
              <a:t>근데 또 할만한 것 같긴 해서 </a:t>
            </a:r>
            <a:r>
              <a:rPr lang="en-US" altLang="ko-KR"/>
              <a:t>Gemini</a:t>
            </a:r>
            <a:r>
              <a:rPr lang="ko-KR" altLang="en-US"/>
              <a:t>랑 같이 많이 팠다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도저히 아닌 것 같을 때 </a:t>
            </a:r>
            <a:r>
              <a:rPr lang="en-US" altLang="ko-KR"/>
              <a:t>Hint + Solution</a:t>
            </a:r>
            <a:r>
              <a:rPr lang="ko-KR" altLang="en-US"/>
              <a:t>을 보고 나서 원래 넣었어야 했던 말을 드디어 찾았다</a:t>
            </a:r>
            <a:r>
              <a:rPr lang="en-US" altLang="ko-KR"/>
              <a:t>.</a:t>
            </a:r>
          </a:p>
          <a:p>
            <a:pPr lvl="2"/>
            <a:r>
              <a:rPr lang="en-US"/>
              <a:t>…</a:t>
            </a:r>
            <a:r>
              <a:rPr lang="ko-KR" altLang="en-US"/>
              <a:t>말하기도 쉽지 않다</a:t>
            </a:r>
            <a:r>
              <a:rPr lang="en-US" altLang="ko-KR"/>
              <a:t>. </a:t>
            </a:r>
            <a:r>
              <a:rPr lang="ko-KR" altLang="en-US"/>
              <a:t>그거 푸느라 </a:t>
            </a:r>
            <a:r>
              <a:rPr lang="en-US" altLang="ko-KR"/>
              <a:t>1</a:t>
            </a:r>
            <a:r>
              <a:rPr lang="ko-KR" altLang="en-US"/>
              <a:t>시간걸렸다</a:t>
            </a:r>
            <a:r>
              <a:rPr lang="en-US" altLang="ko-KR"/>
              <a:t>…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618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6946-5B95-3E14-3406-28BE538F3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</a:t>
            </a:r>
            <a:r>
              <a:rPr lang="ko-KR" altLang="en-US"/>
              <a:t>번문제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EAF93-44C6-9A85-BA29-BBED97DB9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어렵게 해결함</a:t>
            </a:r>
            <a:endParaRPr lang="en-US" altLang="ko-KR"/>
          </a:p>
          <a:p>
            <a:endParaRPr lang="en-US"/>
          </a:p>
          <a:p>
            <a:r>
              <a:rPr lang="ko-KR" altLang="en-US"/>
              <a:t>힌트</a:t>
            </a:r>
            <a:r>
              <a:rPr lang="en-US" altLang="ko-KR"/>
              <a:t>/</a:t>
            </a:r>
            <a:r>
              <a:rPr lang="ko-KR" altLang="en-US"/>
              <a:t>답 보고 나니 이게 한줄코드네</a:t>
            </a:r>
            <a:r>
              <a:rPr lang="en-US" altLang="ko-KR"/>
              <a:t>? </a:t>
            </a:r>
            <a:r>
              <a:rPr lang="ko-KR" altLang="en-US"/>
              <a:t>싶어서 좀 어이없었음</a:t>
            </a:r>
            <a:r>
              <a:rPr lang="en-US" altLang="ko-KR"/>
              <a:t>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76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DCD98-8575-241E-0A49-25CF271B2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악랄한 </a:t>
            </a:r>
            <a:r>
              <a:rPr lang="en-US" altLang="ko-KR"/>
              <a:t>6</a:t>
            </a:r>
            <a:r>
              <a:rPr lang="ko-KR" altLang="en-US"/>
              <a:t>번 문제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17F2A28-075B-7952-0167-611381A94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원래 문제 내용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29ECE-00AA-76BC-E989-2842B7A3D8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Create a Series `descriptor_counts` counting how many times each of these two words appears in the `description` column in the dataset. (For simplicity, let's ignore the capitalized versions of these words.)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EB2F0F2-0FC7-0EB5-4EB3-D859F43BE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실제 요구한 내용</a:t>
            </a:r>
            <a:endParaRPr lang="en-US"/>
          </a:p>
          <a:p>
            <a:r>
              <a:rPr lang="en-US"/>
              <a:t>Hint + solution + gemini3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3E0053A-3FA6-171C-7D69-5733B1A9581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"Create a Series `descriptor_counts` where each value is the number of rows containing the words 'tropical' or 'fruity' (at least once) in the `description` column. (Ignore case, and ignore multiple occurrences within a single row.)"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F25F5A-E2C4-404E-09F2-7E72422DA21B}"/>
              </a:ext>
            </a:extLst>
          </p:cNvPr>
          <p:cNvSpPr txBox="1"/>
          <p:nvPr/>
        </p:nvSpPr>
        <p:spPr>
          <a:xfrm>
            <a:off x="5256212" y="104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There are only so many words you can use when describing a bottle of wine. Is a wine more likely to be "tropical" or "fruity"? </a:t>
            </a:r>
          </a:p>
        </p:txBody>
      </p:sp>
    </p:spTree>
    <p:extLst>
      <p:ext uri="{BB962C8B-B14F-4D97-AF65-F5344CB8AC3E}">
        <p14:creationId xmlns:p14="http://schemas.microsoft.com/office/powerpoint/2010/main" val="19467039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ABEDA-8CEE-A35C-89AF-DA67D1BC6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F921B-C9E4-A4A4-386B-B02728CE5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악랄한 </a:t>
            </a:r>
            <a:r>
              <a:rPr lang="en-US" altLang="ko-KR"/>
              <a:t>6</a:t>
            </a:r>
            <a:r>
              <a:rPr lang="ko-KR" altLang="en-US"/>
              <a:t>번 문제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5FD7B0-EFF0-1889-AFD3-D9627E99E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원래 문제 내용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118274-048F-9394-4BCF-3B7E4A6C9E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/>
              <a:t>Create a Series `descriptor_counts` counting how many times each of these two words appears in the `description` column in the dataset. (For simplicity, let's ignore the capitalized versions of these words.)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781BBE-0C0F-1C54-34F2-CB6540349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내가 했던 생각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A42501F-D946-692C-99DB-8E50AD39993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/>
          </a:bodyPr>
          <a:lstStyle/>
          <a:p>
            <a:r>
              <a:rPr lang="ko-KR" altLang="en-US"/>
              <a:t>오호</a:t>
            </a:r>
            <a:r>
              <a:rPr lang="en-US" altLang="ko-KR"/>
              <a:t>. </a:t>
            </a:r>
            <a:r>
              <a:rPr lang="ko-KR" altLang="en-US"/>
              <a:t>그럼 </a:t>
            </a:r>
            <a:r>
              <a:rPr lang="en-US" altLang="ko-KR"/>
              <a:t>'tropicalfruitytropical' </a:t>
            </a:r>
            <a:r>
              <a:rPr lang="ko-KR" altLang="en-US"/>
              <a:t>이라는 설명</a:t>
            </a:r>
            <a:r>
              <a:rPr lang="en-US" altLang="ko-KR"/>
              <a:t>(description)</a:t>
            </a:r>
            <a:r>
              <a:rPr lang="ko-KR" altLang="en-US"/>
              <a:t>에서는 </a:t>
            </a:r>
            <a:r>
              <a:rPr lang="en-US" altLang="ko-KR"/>
              <a:t>2</a:t>
            </a:r>
            <a:r>
              <a:rPr lang="ko-KR" altLang="en-US"/>
              <a:t>개</a:t>
            </a:r>
            <a:r>
              <a:rPr lang="en-US" altLang="ko-KR"/>
              <a:t>,1</a:t>
            </a:r>
            <a:r>
              <a:rPr lang="ko-KR" altLang="en-US"/>
              <a:t>개 각각을 세야하는것</a:t>
            </a:r>
            <a:r>
              <a:rPr lang="en-US" altLang="ko-KR"/>
              <a:t>?</a:t>
            </a:r>
          </a:p>
          <a:p>
            <a:r>
              <a:rPr lang="ko-KR" altLang="en-US"/>
              <a:t>와인별로 세는건가</a:t>
            </a:r>
            <a:r>
              <a:rPr lang="en-US" altLang="ko-KR"/>
              <a:t>, </a:t>
            </a:r>
            <a:r>
              <a:rPr lang="ko-KR" altLang="en-US"/>
              <a:t>단어별로 세는건가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와인별로 세는것만 해도 음</a:t>
            </a:r>
            <a:r>
              <a:rPr lang="en-US" altLang="ko-KR"/>
              <a:t>.. KMP</a:t>
            </a:r>
            <a:r>
              <a:rPr lang="ko-KR" altLang="en-US"/>
              <a:t>를 활용할 수 있겠고 와인별로 센 것의 합을 구하라고하면 그 </a:t>
            </a:r>
            <a:r>
              <a:rPr lang="en-US" altLang="ko-KR"/>
              <a:t>table</a:t>
            </a:r>
            <a:r>
              <a:rPr lang="ko-KR" altLang="en-US"/>
              <a:t>을 걍 합치면 되겠군</a:t>
            </a:r>
            <a:endParaRPr lang="en-US" altLang="ko-KR"/>
          </a:p>
          <a:p>
            <a:pPr lvl="1"/>
            <a:r>
              <a:rPr lang="en-US" altLang="ko-KR"/>
              <a:t>... </a:t>
            </a:r>
            <a:r>
              <a:rPr lang="ko-KR" altLang="en-US"/>
              <a:t>이거 맞아</a:t>
            </a:r>
            <a:r>
              <a:rPr lang="en-US" altLang="ko-KR"/>
              <a:t>???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73065-0A68-6EE7-1F85-AD7B0AD217D5}"/>
              </a:ext>
            </a:extLst>
          </p:cNvPr>
          <p:cNvSpPr txBox="1"/>
          <p:nvPr/>
        </p:nvSpPr>
        <p:spPr>
          <a:xfrm>
            <a:off x="5256212" y="104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There are only so many words you can use when describing a bottle of wine. Is a wine more likely to be "tropical" or "fruity"?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BBF7D6-2A25-5A23-E4A5-6754A1C6B462}"/>
              </a:ext>
            </a:extLst>
          </p:cNvPr>
          <p:cNvSpPr txBox="1"/>
          <p:nvPr/>
        </p:nvSpPr>
        <p:spPr>
          <a:xfrm>
            <a:off x="762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https://gemini.google.com/share/18a93bbfb060</a:t>
            </a:r>
          </a:p>
        </p:txBody>
      </p:sp>
    </p:spTree>
    <p:extLst>
      <p:ext uri="{BB962C8B-B14F-4D97-AF65-F5344CB8AC3E}">
        <p14:creationId xmlns:p14="http://schemas.microsoft.com/office/powerpoint/2010/main" val="12904816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9A1B-0CC1-A278-C707-78420716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0D153-484B-6EE3-E7DE-7A26F1D02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악랄한 </a:t>
            </a:r>
            <a:r>
              <a:rPr lang="en-US" altLang="ko-KR"/>
              <a:t>6</a:t>
            </a:r>
            <a:r>
              <a:rPr lang="ko-KR" altLang="en-US"/>
              <a:t>번 문제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B31B96-4BCC-D6ED-AEC8-60FC6A8B8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원래 문제 내용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D52FD1-A359-3754-29BE-BD102DAF41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/>
              <a:t>Create a Series `descriptor_counts` counting how many times each of these two words appears in the `description` column in the dataset. (For simplicity, let's ignore the capitalized versions of these words.)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C0979E-5BA1-245A-587D-854989284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내가 했던 생각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6F4863-EF56-916B-B6DC-D4D4674C90D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/>
              <a:t>했던 생각</a:t>
            </a:r>
            <a:endParaRPr lang="en-US" altLang="ko-KR"/>
          </a:p>
          <a:p>
            <a:pPr lvl="1"/>
            <a:r>
              <a:rPr lang="ko-KR" altLang="en-US"/>
              <a:t>와인별로 세는것만 해도 음</a:t>
            </a:r>
            <a:r>
              <a:rPr lang="en-US" altLang="ko-KR"/>
              <a:t>.. KMP</a:t>
            </a:r>
            <a:r>
              <a:rPr lang="ko-KR" altLang="en-US"/>
              <a:t>를 활용할 수 있겠고 와인별로 센 것의 합을 구하라고하면 그 </a:t>
            </a:r>
            <a:r>
              <a:rPr lang="en-US" altLang="ko-KR"/>
              <a:t>table</a:t>
            </a:r>
            <a:r>
              <a:rPr lang="ko-KR" altLang="en-US"/>
              <a:t>을 걍 합치면 되겠군</a:t>
            </a:r>
            <a:endParaRPr lang="en-US" altLang="ko-KR"/>
          </a:p>
          <a:p>
            <a:pPr lvl="1"/>
            <a:r>
              <a:rPr lang="en-US" altLang="ko-KR"/>
              <a:t>... </a:t>
            </a:r>
            <a:r>
              <a:rPr lang="ko-KR" altLang="en-US"/>
              <a:t>이거 맞아</a:t>
            </a:r>
            <a:r>
              <a:rPr lang="en-US" altLang="ko-KR"/>
              <a:t>???</a:t>
            </a:r>
          </a:p>
          <a:p>
            <a:r>
              <a:rPr lang="ko-KR" altLang="en-US"/>
              <a:t>의문점</a:t>
            </a:r>
            <a:endParaRPr lang="en-US" altLang="ko-KR"/>
          </a:p>
          <a:p>
            <a:pPr lvl="1"/>
            <a:r>
              <a:rPr lang="en-US" altLang="ko-KR"/>
              <a:t>Q1.</a:t>
            </a:r>
            <a:r>
              <a:rPr lang="ko-KR" altLang="en-US"/>
              <a:t> 오호</a:t>
            </a:r>
            <a:r>
              <a:rPr lang="en-US" altLang="ko-KR"/>
              <a:t>. </a:t>
            </a:r>
            <a:r>
              <a:rPr lang="ko-KR" altLang="en-US"/>
              <a:t>그럼 </a:t>
            </a:r>
            <a:r>
              <a:rPr lang="en-US" altLang="ko-KR"/>
              <a:t>'tropicalfruitytropical' </a:t>
            </a:r>
            <a:r>
              <a:rPr lang="ko-KR" altLang="en-US"/>
              <a:t>이라는 설명</a:t>
            </a:r>
            <a:r>
              <a:rPr lang="en-US" altLang="ko-KR"/>
              <a:t>(description)</a:t>
            </a:r>
            <a:r>
              <a:rPr lang="ko-KR" altLang="en-US"/>
              <a:t>에서는 </a:t>
            </a:r>
            <a:r>
              <a:rPr lang="en-US" altLang="ko-KR"/>
              <a:t>2</a:t>
            </a:r>
            <a:r>
              <a:rPr lang="ko-KR" altLang="en-US"/>
              <a:t>개</a:t>
            </a:r>
            <a:r>
              <a:rPr lang="en-US" altLang="ko-KR"/>
              <a:t>,1</a:t>
            </a:r>
            <a:r>
              <a:rPr lang="ko-KR" altLang="en-US"/>
              <a:t>개 각각을 세야하는것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Q2. </a:t>
            </a:r>
            <a:r>
              <a:rPr lang="ko-KR" altLang="en-US"/>
              <a:t>와인별로 세는건가</a:t>
            </a:r>
            <a:r>
              <a:rPr lang="en-US" altLang="ko-KR"/>
              <a:t>, </a:t>
            </a:r>
            <a:r>
              <a:rPr lang="ko-KR" altLang="en-US"/>
              <a:t>단어별로 세는건가</a:t>
            </a:r>
            <a:r>
              <a:rPr lang="en-US" altLang="ko-KR"/>
              <a:t>?</a:t>
            </a:r>
          </a:p>
          <a:p>
            <a:r>
              <a:rPr lang="en-US" altLang="ko-KR"/>
              <a:t>Q1</a:t>
            </a:r>
            <a:r>
              <a:rPr lang="ko-KR" altLang="en-US"/>
              <a:t>에 대한 가정</a:t>
            </a:r>
            <a:endParaRPr lang="en-US" altLang="ko-KR"/>
          </a:p>
          <a:p>
            <a:pPr lvl="1"/>
            <a:r>
              <a:rPr lang="ko-KR" altLang="en-US"/>
              <a:t>아마 그렇게 등장하진 않을 것 같음</a:t>
            </a:r>
            <a:r>
              <a:rPr lang="en-US" altLang="ko-KR"/>
              <a:t>! (</a:t>
            </a:r>
            <a:r>
              <a:rPr lang="ko-KR" altLang="en-US"/>
              <a:t>즉</a:t>
            </a:r>
            <a:r>
              <a:rPr lang="en-US" altLang="ko-KR"/>
              <a:t>, </a:t>
            </a:r>
            <a:r>
              <a:rPr lang="ko-KR" altLang="en-US"/>
              <a:t>둘 중 한 단어만 최대 </a:t>
            </a:r>
            <a:r>
              <a:rPr lang="en-US" altLang="ko-KR"/>
              <a:t>1</a:t>
            </a:r>
            <a:r>
              <a:rPr lang="ko-KR" altLang="en-US"/>
              <a:t>번까지만 나올 것 같음</a:t>
            </a:r>
            <a:r>
              <a:rPr lang="en-US" altLang="ko-KR"/>
              <a:t>!)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6B8CCD-B6E6-0EA0-3757-45E97F5139C6}"/>
              </a:ext>
            </a:extLst>
          </p:cNvPr>
          <p:cNvSpPr txBox="1"/>
          <p:nvPr/>
        </p:nvSpPr>
        <p:spPr>
          <a:xfrm>
            <a:off x="5256212" y="104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There are only so many words you can use when describing a bottle of wine. Is a wine more likely to be "tropical" or "fruity"?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BD47EC-1AB2-F193-24BA-ABDA22565D12}"/>
              </a:ext>
            </a:extLst>
          </p:cNvPr>
          <p:cNvSpPr txBox="1"/>
          <p:nvPr/>
        </p:nvSpPr>
        <p:spPr>
          <a:xfrm>
            <a:off x="76200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https://gemini.google.com/share/18a93bbfb060</a:t>
            </a:r>
          </a:p>
        </p:txBody>
      </p:sp>
    </p:spTree>
    <p:extLst>
      <p:ext uri="{BB962C8B-B14F-4D97-AF65-F5344CB8AC3E}">
        <p14:creationId xmlns:p14="http://schemas.microsoft.com/office/powerpoint/2010/main" val="2046731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8188C4-473F-5F4E-8352-32178D54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실제 문장을 보고 더욱 기겁함 </a:t>
            </a:r>
            <a:r>
              <a:rPr lang="en-US" altLang="ko-KR"/>
              <a:t>(2</a:t>
            </a:r>
            <a:r>
              <a:rPr lang="ko-KR" altLang="en-US"/>
              <a:t>차기겁</a:t>
            </a:r>
            <a:r>
              <a:rPr lang="en-US" altLang="ko-KR"/>
              <a:t>)</a:t>
            </a:r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F0F654C-3B3E-C81D-3560-36A1E32BEE5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3954418"/>
            <a:ext cx="5181600" cy="2069414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4A42CC49-D3D5-844E-E753-CFB76F7FD1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3485374"/>
            <a:ext cx="5181600" cy="30075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7B4772E-7791-B134-D60A-07E07846D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396113"/>
            <a:ext cx="7506748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165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3EC1B-B4E9-2327-F1C7-6858FB89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힌트 보고 </a:t>
            </a:r>
            <a:r>
              <a:rPr lang="en-US" altLang="ko-KR"/>
              <a:t>3</a:t>
            </a:r>
            <a:r>
              <a:rPr lang="ko-KR" altLang="en-US"/>
              <a:t>차기겁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17111-535E-285F-3745-F847092FE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Hint: Use a map to check each description for the string tropical, then count up the number of times this is True. Repeat this for fruity. Finally, create a Series combining the two values.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B9AFC2-CADB-0200-8F20-236AE9166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3237995"/>
            <a:ext cx="9154803" cy="3620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3375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F8D5F-B6B7-308D-322B-8292FA145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답 틀린 에러 메시지 보고 </a:t>
            </a:r>
            <a:r>
              <a:rPr lang="en-US" altLang="ko-KR"/>
              <a:t>4</a:t>
            </a:r>
            <a:r>
              <a:rPr lang="ko-KR" altLang="en-US"/>
              <a:t>차기겁 </a:t>
            </a:r>
            <a:r>
              <a:rPr lang="en-US" altLang="ko-KR"/>
              <a:t>(Q2.</a:t>
            </a:r>
            <a:r>
              <a:rPr lang="ko-KR" altLang="en-US"/>
              <a:t>이슈</a:t>
            </a:r>
            <a:r>
              <a:rPr lang="en-US" altLang="ko-KR"/>
              <a:t>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99DEA-EFD1-569D-01B3-EB8D4FE17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의문점</a:t>
            </a:r>
            <a:endParaRPr lang="en-US" altLang="ko-KR"/>
          </a:p>
          <a:p>
            <a:pPr lvl="1"/>
            <a:r>
              <a:rPr lang="en-US" altLang="ko-KR"/>
              <a:t>Q1.</a:t>
            </a:r>
            <a:r>
              <a:rPr lang="ko-KR" altLang="en-US"/>
              <a:t> 오호</a:t>
            </a:r>
            <a:r>
              <a:rPr lang="en-US" altLang="ko-KR"/>
              <a:t>. </a:t>
            </a:r>
            <a:r>
              <a:rPr lang="ko-KR" altLang="en-US"/>
              <a:t>그럼 </a:t>
            </a:r>
            <a:r>
              <a:rPr lang="en-US" altLang="ko-KR"/>
              <a:t>'tropicalfruitytropical' </a:t>
            </a:r>
            <a:r>
              <a:rPr lang="ko-KR" altLang="en-US"/>
              <a:t>이라는 설명</a:t>
            </a:r>
            <a:r>
              <a:rPr lang="en-US" altLang="ko-KR"/>
              <a:t>(description)</a:t>
            </a:r>
            <a:r>
              <a:rPr lang="ko-KR" altLang="en-US"/>
              <a:t>에서는 </a:t>
            </a:r>
            <a:r>
              <a:rPr lang="en-US" altLang="ko-KR"/>
              <a:t>2</a:t>
            </a:r>
            <a:r>
              <a:rPr lang="ko-KR" altLang="en-US"/>
              <a:t>개</a:t>
            </a:r>
            <a:r>
              <a:rPr lang="en-US" altLang="ko-KR"/>
              <a:t>,1</a:t>
            </a:r>
            <a:r>
              <a:rPr lang="ko-KR" altLang="en-US"/>
              <a:t>개 각각을 세야하는것</a:t>
            </a:r>
            <a:r>
              <a:rPr lang="en-US" altLang="ko-KR"/>
              <a:t>?</a:t>
            </a:r>
          </a:p>
          <a:p>
            <a:pPr lvl="1"/>
            <a:r>
              <a:rPr lang="en-US" altLang="ko-KR"/>
              <a:t>Q2. </a:t>
            </a:r>
            <a:r>
              <a:rPr lang="ko-KR" altLang="en-US"/>
              <a:t>와인별로 세는건가</a:t>
            </a:r>
            <a:r>
              <a:rPr lang="en-US" altLang="ko-KR"/>
              <a:t>, </a:t>
            </a:r>
            <a:r>
              <a:rPr lang="ko-KR" altLang="en-US"/>
              <a:t>단어별로 세는건가</a:t>
            </a:r>
            <a:r>
              <a:rPr lang="en-US" altLang="ko-KR"/>
              <a:t>?</a:t>
            </a:r>
          </a:p>
          <a:p>
            <a:r>
              <a:rPr lang="ko-KR" altLang="en-US"/>
              <a:t>와인별로 세어버렸음</a:t>
            </a:r>
            <a:r>
              <a:rPr lang="en-US" altLang="ko-KR"/>
              <a:t>. </a:t>
            </a:r>
            <a:r>
              <a:rPr lang="ko-KR" altLang="en-US"/>
              <a:t>단어별로 세도록 고치기만 하면 되기는 한데</a:t>
            </a:r>
            <a:r>
              <a:rPr lang="en-US" altLang="ko-KR"/>
              <a:t>… </a:t>
            </a:r>
            <a:r>
              <a:rPr lang="ko-KR" altLang="en-US"/>
              <a:t>이미 </a:t>
            </a:r>
            <a:r>
              <a:rPr lang="en-US" altLang="ko-KR"/>
              <a:t>3</a:t>
            </a:r>
            <a:r>
              <a:rPr lang="ko-KR" altLang="en-US"/>
              <a:t>차기겁한 시점에서 통과가 안되었고 이것도 불명확했다는 점에서 멘붕이 온 것 같음</a:t>
            </a:r>
            <a:r>
              <a:rPr lang="en-US" altLang="ko-KR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65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4BED7-2319-0347-E164-E08FBDFC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7116-47A9-F98D-6F5A-E2ADBD138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악랄한 </a:t>
            </a:r>
            <a:r>
              <a:rPr lang="en-US" altLang="ko-KR"/>
              <a:t>6</a:t>
            </a:r>
            <a:r>
              <a:rPr lang="ko-KR" altLang="en-US"/>
              <a:t>번 문제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871F3D4-32A8-A455-EE94-699DC6AD21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원래 문제 내용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7FA4A-1E86-B15B-8E83-ADDE07E780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Create a Series `descriptor_counts` counting how many times each of these two words appears in the `description` column in the dataset. (For simplicity, let's ignore the capitalized versions of these words.)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7DD38A-8960-2E01-7804-E31FD35A2B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/>
              <a:t>실제 요구한 내용</a:t>
            </a:r>
            <a:endParaRPr lang="en-US"/>
          </a:p>
          <a:p>
            <a:r>
              <a:rPr lang="en-US"/>
              <a:t>Hint + solution + gemini3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7004BCE-4ED0-89CD-04B4-DE3089F9003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"Create a Series `descriptor_counts` where each value is </a:t>
            </a:r>
            <a:r>
              <a:rPr lang="en-US" b="1"/>
              <a:t>the number of rows</a:t>
            </a:r>
            <a:r>
              <a:rPr lang="en-US"/>
              <a:t> containing the words 'tropical' or 'fruity' (at least once) in the `description` column. (Ignore case, and ignore multiple occurrences within a single row.)"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7226E1-28C2-3577-0C70-43E85BA6DD2E}"/>
              </a:ext>
            </a:extLst>
          </p:cNvPr>
          <p:cNvSpPr txBox="1"/>
          <p:nvPr/>
        </p:nvSpPr>
        <p:spPr>
          <a:xfrm>
            <a:off x="5256212" y="10457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There are only so many words you can use when describing a bottle of wine. Is a wine more likely to be "tropical" or "fruity"?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EC602-2F66-E97E-DC69-93B724DDB8D8}"/>
              </a:ext>
            </a:extLst>
          </p:cNvPr>
          <p:cNvSpPr txBox="1"/>
          <p:nvPr/>
        </p:nvSpPr>
        <p:spPr>
          <a:xfrm>
            <a:off x="98427" y="5657671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/>
              <a:t>의문점</a:t>
            </a:r>
            <a:endParaRPr lang="en-US" altLang="ko-KR" sz="1400"/>
          </a:p>
          <a:p>
            <a:pPr lvl="1"/>
            <a:r>
              <a:rPr lang="en-US" altLang="ko-KR" sz="1400"/>
              <a:t>Q1.</a:t>
            </a:r>
            <a:r>
              <a:rPr lang="ko-KR" altLang="en-US" sz="1400"/>
              <a:t> 오호</a:t>
            </a:r>
            <a:r>
              <a:rPr lang="en-US" altLang="ko-KR" sz="1400"/>
              <a:t>. </a:t>
            </a:r>
            <a:r>
              <a:rPr lang="ko-KR" altLang="en-US" sz="1400"/>
              <a:t>그럼 </a:t>
            </a:r>
            <a:r>
              <a:rPr lang="en-US" altLang="ko-KR" sz="1400"/>
              <a:t>'tropicalfruitytropical' </a:t>
            </a:r>
            <a:r>
              <a:rPr lang="ko-KR" altLang="en-US" sz="1400"/>
              <a:t>이라는 설명</a:t>
            </a:r>
            <a:r>
              <a:rPr lang="en-US" altLang="ko-KR" sz="1400"/>
              <a:t>(description)</a:t>
            </a:r>
            <a:r>
              <a:rPr lang="ko-KR" altLang="en-US" sz="1400"/>
              <a:t>에서는 </a:t>
            </a:r>
            <a:r>
              <a:rPr lang="en-US" altLang="ko-KR" sz="1400"/>
              <a:t>2</a:t>
            </a:r>
            <a:r>
              <a:rPr lang="ko-KR" altLang="en-US" sz="1400"/>
              <a:t>개</a:t>
            </a:r>
            <a:r>
              <a:rPr lang="en-US" altLang="ko-KR" sz="1400"/>
              <a:t>,1</a:t>
            </a:r>
            <a:r>
              <a:rPr lang="ko-KR" altLang="en-US" sz="1400"/>
              <a:t>개 각각을 세야하는것</a:t>
            </a:r>
            <a:r>
              <a:rPr lang="en-US" altLang="ko-KR" sz="1400"/>
              <a:t>? </a:t>
            </a:r>
            <a:r>
              <a:rPr lang="en-US" altLang="ko-KR" sz="1400" b="1"/>
              <a:t>1</a:t>
            </a:r>
            <a:r>
              <a:rPr lang="ko-KR" altLang="en-US" sz="1400" b="1"/>
              <a:t>번씩만 </a:t>
            </a:r>
            <a:r>
              <a:rPr lang="en-US" altLang="ko-KR" sz="1400" b="1"/>
              <a:t>!</a:t>
            </a:r>
          </a:p>
          <a:p>
            <a:pPr lvl="1"/>
            <a:r>
              <a:rPr lang="en-US" altLang="ko-KR" sz="1400"/>
              <a:t>Q2. </a:t>
            </a:r>
            <a:r>
              <a:rPr lang="ko-KR" altLang="en-US" sz="1400"/>
              <a:t>와인별로 세는건가</a:t>
            </a:r>
            <a:r>
              <a:rPr lang="en-US" altLang="ko-KR" sz="1400"/>
              <a:t>, </a:t>
            </a:r>
            <a:r>
              <a:rPr lang="ko-KR" altLang="en-US" sz="1400"/>
              <a:t>단어별로 세는건가</a:t>
            </a:r>
            <a:r>
              <a:rPr lang="en-US" altLang="ko-KR" sz="1400"/>
              <a:t>? </a:t>
            </a:r>
            <a:r>
              <a:rPr lang="ko-KR" altLang="en-US" sz="1400" b="1"/>
              <a:t>단어별</a:t>
            </a:r>
            <a:r>
              <a:rPr lang="en-US" altLang="ko-KR" sz="1400" b="1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500861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2D8C2-827C-BD30-1B1C-D1FF2FAB9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4-260220 - Kaggle Intermediate ML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C2F18-FEEF-BF25-FB42-4CC1D3028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/>
              <a:t>Pandas</a:t>
            </a:r>
            <a:r>
              <a:rPr lang="ko-KR" altLang="en-US"/>
              <a:t> </a:t>
            </a:r>
            <a:r>
              <a:rPr lang="en-US" altLang="ko-KR"/>
              <a:t>6</a:t>
            </a:r>
            <a:r>
              <a:rPr lang="ko-KR" altLang="en-US"/>
              <a:t>째 </a:t>
            </a:r>
            <a:r>
              <a:rPr lang="en-US" altLang="ko-KR"/>
              <a:t>Exercise </a:t>
            </a:r>
            <a:r>
              <a:rPr lang="ko-KR" altLang="en-US"/>
              <a:t>마저 끝냄</a:t>
            </a:r>
            <a:endParaRPr lang="en-US"/>
          </a:p>
          <a:p>
            <a:r>
              <a:rPr lang="en-US"/>
              <a:t>Intermediate ML</a:t>
            </a:r>
            <a:r>
              <a:rPr lang="ko-KR" altLang="en-US"/>
              <a:t>의 첫 두 강 수강 완료</a:t>
            </a:r>
            <a:r>
              <a:rPr lang="en-US" altLang="ko-KR"/>
              <a:t>, </a:t>
            </a:r>
            <a:r>
              <a:rPr lang="ko-KR" altLang="en-US"/>
              <a:t>셋째 강의 </a:t>
            </a:r>
            <a:r>
              <a:rPr lang="en-US" altLang="ko-KR"/>
              <a:t>exercise </a:t>
            </a:r>
            <a:r>
              <a:rPr lang="ko-KR" altLang="en-US"/>
              <a:t>중간까지 함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복습</a:t>
            </a:r>
            <a:r>
              <a:rPr lang="en-US" altLang="ko-KR"/>
              <a:t>: </a:t>
            </a:r>
            <a:r>
              <a:rPr lang="ko-KR" altLang="en-US"/>
              <a:t>모델 만들어서 제출하기</a:t>
            </a:r>
            <a:endParaRPr lang="en-US" altLang="ko-KR"/>
          </a:p>
          <a:p>
            <a:pPr lvl="1"/>
            <a:r>
              <a:rPr lang="en-US" altLang="ko-KR"/>
              <a:t>Missing</a:t>
            </a:r>
            <a:r>
              <a:rPr lang="ko-KR" altLang="en-US"/>
              <a:t> </a:t>
            </a:r>
            <a:r>
              <a:rPr lang="en-US" altLang="ko-KR"/>
              <a:t>Value</a:t>
            </a:r>
            <a:r>
              <a:rPr lang="ko-KR" altLang="en-US"/>
              <a:t> </a:t>
            </a:r>
            <a:r>
              <a:rPr lang="en-US" altLang="ko-KR"/>
              <a:t>Handling</a:t>
            </a:r>
          </a:p>
          <a:p>
            <a:pPr lvl="1"/>
            <a:r>
              <a:rPr lang="en-US"/>
              <a:t>Categorical</a:t>
            </a:r>
            <a:r>
              <a:rPr lang="ko-KR" altLang="en-US"/>
              <a:t> </a:t>
            </a:r>
            <a:r>
              <a:rPr lang="en-US" altLang="ko-KR"/>
              <a:t>Value</a:t>
            </a:r>
            <a:r>
              <a:rPr lang="ko-KR" altLang="en-US"/>
              <a:t> </a:t>
            </a:r>
            <a:r>
              <a:rPr lang="en-US" altLang="ko-KR"/>
              <a:t>Handling</a:t>
            </a:r>
            <a:r>
              <a:rPr lang="ko-KR" altLang="en-US"/>
              <a:t> </a:t>
            </a:r>
            <a:r>
              <a:rPr lang="en-US" altLang="ko-KR"/>
              <a:t>(ordinal - ordinal encoding, nomial values - one-hot-encoding)</a:t>
            </a:r>
            <a:endParaRPr lang="en-US"/>
          </a:p>
          <a:p>
            <a:r>
              <a:rPr lang="en-US"/>
              <a:t>+ </a:t>
            </a:r>
            <a:r>
              <a:rPr lang="ko-KR" altLang="en-US"/>
              <a:t>이후에 </a:t>
            </a:r>
            <a:r>
              <a:rPr lang="en-US" altLang="ko-KR"/>
              <a:t>“feature engineering” </a:t>
            </a:r>
            <a:r>
              <a:rPr lang="ko-KR" altLang="en-US"/>
              <a:t>을 다룰 수 있다고 한다</a:t>
            </a:r>
            <a:r>
              <a:rPr lang="en-US" altLang="ko-KR"/>
              <a:t>.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그거까지 끝내면 좋을듯</a:t>
            </a:r>
            <a:r>
              <a:rPr lang="en-US" altLang="ko-KR">
                <a:sym typeface="Wingdings" panose="05000000000000000000" pitchFamily="2" charset="2"/>
              </a:rPr>
              <a:t>!</a:t>
            </a:r>
          </a:p>
          <a:p>
            <a:r>
              <a:rPr lang="en-US"/>
              <a:t>+ exercise</a:t>
            </a:r>
            <a:r>
              <a:rPr lang="ko-KR" altLang="en-US"/>
              <a:t> 를 통해 실제 제출을 여러 번 해보다보니</a:t>
            </a:r>
            <a:r>
              <a:rPr lang="en-US" altLang="ko-KR"/>
              <a:t>..</a:t>
            </a:r>
          </a:p>
          <a:p>
            <a:pPr lvl="1"/>
            <a:r>
              <a:rPr lang="en-US" altLang="ko-KR"/>
              <a:t>MAE(Mean Absolute Error)</a:t>
            </a:r>
            <a:r>
              <a:rPr lang="ko-KR" altLang="en-US"/>
              <a:t>를 기존 </a:t>
            </a:r>
            <a:r>
              <a:rPr lang="en-US" altLang="ko-KR"/>
              <a:t>21000 </a:t>
            </a:r>
            <a:r>
              <a:rPr lang="en-US" altLang="ko-KR">
                <a:sym typeface="Wingdings" panose="05000000000000000000" pitchFamily="2" charset="2"/>
              </a:rPr>
              <a:t> 20000  16000 (Intermediate 2/7</a:t>
            </a:r>
            <a:r>
              <a:rPr lang="ko-KR" altLang="en-US">
                <a:sym typeface="Wingdings" panose="05000000000000000000" pitchFamily="2" charset="2"/>
              </a:rPr>
              <a:t>째강의</a:t>
            </a:r>
            <a:r>
              <a:rPr lang="en-US" altLang="ko-KR">
                <a:sym typeface="Wingdings" panose="05000000000000000000" pitchFamily="2" charset="2"/>
              </a:rPr>
              <a:t>) </a:t>
            </a:r>
            <a:r>
              <a:rPr lang="ko-KR" altLang="en-US">
                <a:sym typeface="Wingdings" panose="05000000000000000000" pitchFamily="2" charset="2"/>
              </a:rPr>
              <a:t>으로 개선</a:t>
            </a:r>
            <a:r>
              <a:rPr lang="en-US" altLang="ko-KR">
                <a:sym typeface="Wingdings" panose="05000000000000000000" pitchFamily="2" charset="2"/>
              </a:rPr>
              <a:t>!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 </a:t>
            </a:r>
            <a:r>
              <a:rPr lang="ko-KR" altLang="en-US">
                <a:sym typeface="Wingdings" panose="05000000000000000000" pitchFamily="2" charset="2"/>
              </a:rPr>
              <a:t>배운 것을 토대로 실제로 집값 예측을 더 잘 할 수 있게 되었다</a:t>
            </a:r>
            <a:r>
              <a:rPr lang="en-US" altLang="ko-KR">
                <a:sym typeface="Wingdings" panose="05000000000000000000" pitchFamily="2" charset="2"/>
              </a:rPr>
              <a:t>.</a:t>
            </a: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나중에 </a:t>
            </a:r>
            <a:r>
              <a:rPr lang="en-US" altLang="ko-KR">
                <a:sym typeface="Wingdings" panose="05000000000000000000" pitchFamily="2" charset="2"/>
              </a:rPr>
              <a:t>Pipelines, Cross-Validation, XGBoost </a:t>
            </a:r>
            <a:r>
              <a:rPr lang="ko-KR" altLang="en-US">
                <a:sym typeface="Wingdings" panose="05000000000000000000" pitchFamily="2" charset="2"/>
              </a:rPr>
              <a:t>를 배우고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>
                <a:sym typeface="Wingdings" panose="05000000000000000000" pitchFamily="2" charset="2"/>
              </a:rPr>
              <a:t>Feature Engineering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Mutual Information, K-Means clustering, PCA, Target Encoding </a:t>
            </a:r>
            <a:r>
              <a:rPr lang="ko-KR" altLang="en-US">
                <a:sym typeface="Wingdings" panose="05000000000000000000" pitchFamily="2" charset="2"/>
              </a:rPr>
              <a:t>등 이론적으로만 배웠던 것을 실전으로 적용 </a:t>
            </a:r>
            <a:r>
              <a:rPr lang="en-US" altLang="ko-KR">
                <a:sym typeface="Wingdings" panose="05000000000000000000" pitchFamily="2" charset="2"/>
              </a:rPr>
              <a:t>+ </a:t>
            </a:r>
            <a:r>
              <a:rPr lang="ko-KR" altLang="en-US">
                <a:sym typeface="Wingdings" panose="05000000000000000000" pitchFamily="2" charset="2"/>
              </a:rPr>
              <a:t>내 스킬로 만들고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en-US"/>
              <a:t>Machine Learning Explainability </a:t>
            </a:r>
            <a:r>
              <a:rPr lang="ko-KR" altLang="en-US"/>
              <a:t>에서 </a:t>
            </a:r>
            <a:r>
              <a:rPr lang="en-US" altLang="ko-KR"/>
              <a:t>model insights </a:t>
            </a:r>
            <a:r>
              <a:rPr lang="ko-KR" altLang="en-US"/>
              <a:t>를 알아내는 방법을 배우고 배운 </a:t>
            </a:r>
            <a:r>
              <a:rPr lang="en-US" altLang="ko-KR"/>
              <a:t>ML </a:t>
            </a:r>
            <a:r>
              <a:rPr lang="ko-KR" altLang="en-US"/>
              <a:t>만드는 방법에 대한 </a:t>
            </a:r>
            <a:r>
              <a:rPr lang="en-US" altLang="ko-KR"/>
              <a:t>insights</a:t>
            </a:r>
            <a:r>
              <a:rPr lang="ko-KR" altLang="en-US"/>
              <a:t>를 정리하는 방법을 배우면</a:t>
            </a:r>
            <a:endParaRPr lang="en-US" altLang="ko-KR"/>
          </a:p>
          <a:p>
            <a:r>
              <a:rPr lang="ko-KR" altLang="en-US"/>
              <a:t>모두의 데이터 분석 능력 </a:t>
            </a:r>
            <a:r>
              <a:rPr lang="en-US" altLang="ko-KR"/>
              <a:t>/ insight</a:t>
            </a:r>
            <a:r>
              <a:rPr lang="ko-KR" altLang="en-US"/>
              <a:t>를 증진시킬 수 있을 것으로 보인다</a:t>
            </a:r>
            <a:r>
              <a:rPr lang="en-US" altLang="ko-KR"/>
              <a:t>.</a:t>
            </a:r>
          </a:p>
          <a:p>
            <a:r>
              <a:rPr lang="ko-KR" altLang="en-US"/>
              <a:t>이것이 너무 공유되는 이득이 작다고 한다면</a:t>
            </a:r>
            <a:r>
              <a:rPr lang="en-US" altLang="ko-KR"/>
              <a:t>… XGBoost</a:t>
            </a:r>
            <a:r>
              <a:rPr lang="ko-KR" altLang="en-US"/>
              <a:t>정도까지 하고 배운 것을 어느 정도 정리 </a:t>
            </a:r>
            <a:r>
              <a:rPr lang="en-US" altLang="ko-KR"/>
              <a:t>&amp; </a:t>
            </a:r>
            <a:r>
              <a:rPr lang="ko-KR" altLang="en-US"/>
              <a:t>전달할 수 있도록 다듬는 시간을 먼저 가진 뒤에 저걸 마저 해보도록 하자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16989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90F21-4971-A4DF-4133-6201ABBE6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AE387-B473-B95A-3B24-BDD250493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00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DC343-6E20-8B48-FF4A-F3A740588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B34D8-B209-17DC-3041-B83A6BE66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34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B947F-5543-C04A-7C00-FC25D49E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73243-78C8-2FC1-8F83-6B1F9C670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1606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25CE7-F44D-5AAD-C878-271881C0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35F0B-1291-6C8D-11B8-AC4597E9E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83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1376</Words>
  <Application>Microsoft Office PowerPoint</Application>
  <PresentationFormat>Widescreen</PresentationFormat>
  <Paragraphs>126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Office Theme</vt:lpstr>
      <vt:lpstr>Kaggle!</vt:lpstr>
      <vt:lpstr>Contents</vt:lpstr>
      <vt:lpstr>What is Kaggle?</vt:lpstr>
      <vt:lpstr>Let’s do: Intro to Machine Learning!</vt:lpstr>
      <vt:lpstr>Kaggle Notebook?</vt:lpstr>
      <vt:lpstr>Kaggle Datasets?</vt:lpstr>
      <vt:lpstr>Download to the Notebook!</vt:lpstr>
      <vt:lpstr>Exercise!</vt:lpstr>
      <vt:lpstr>More Exercise! (exercises on what learned form the ‘learning website’)</vt:lpstr>
      <vt:lpstr>CLI code?</vt:lpstr>
      <vt:lpstr>TIP: Notebook sidebar tab 안보일 때!</vt:lpstr>
      <vt:lpstr>PowerPoint Presentation</vt:lpstr>
      <vt:lpstr>260206 - Kaggle Pandas Course</vt:lpstr>
      <vt:lpstr>인상적이었던 점 : 문제가 많이 불분명했다.  깊이 파다가 시간 + 머리 소모됨</vt:lpstr>
      <vt:lpstr>5번문제</vt:lpstr>
      <vt:lpstr>악랄한 6번 문제</vt:lpstr>
      <vt:lpstr>악랄한 6번 문제</vt:lpstr>
      <vt:lpstr>악랄한 6번 문제</vt:lpstr>
      <vt:lpstr>실제 문장을 보고 더욱 기겁함 (2차기겁)</vt:lpstr>
      <vt:lpstr>힌트 보고 3차기겁</vt:lpstr>
      <vt:lpstr>답 틀린 에러 메시지 보고 4차기겁 (Q2.이슈)</vt:lpstr>
      <vt:lpstr>악랄한 6번 문제</vt:lpstr>
      <vt:lpstr>4-260220 - Kaggle Intermediate ML Course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ins 9</dc:creator>
  <cp:lastModifiedBy>ins 9</cp:lastModifiedBy>
  <cp:revision>45</cp:revision>
  <dcterms:created xsi:type="dcterms:W3CDTF">2026-01-30T00:08:35Z</dcterms:created>
  <dcterms:modified xsi:type="dcterms:W3CDTF">2026-02-20T07:58:18Z</dcterms:modified>
</cp:coreProperties>
</file>