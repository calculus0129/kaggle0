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2" r:id="rId7"/>
    <p:sldId id="265" r:id="rId8"/>
    <p:sldId id="263" r:id="rId9"/>
    <p:sldId id="264" r:id="rId10"/>
    <p:sldId id="261" r:id="rId11"/>
    <p:sldId id="266" r:id="rId12"/>
    <p:sldId id="267" r:id="rId13"/>
    <p:sldId id="268" r:id="rId14"/>
    <p:sldId id="269" r:id="rId15"/>
    <p:sldId id="272" r:id="rId16"/>
    <p:sldId id="271" r:id="rId17"/>
    <p:sldId id="275" r:id="rId18"/>
    <p:sldId id="276" r:id="rId19"/>
    <p:sldId id="270" r:id="rId20"/>
    <p:sldId id="273" r:id="rId21"/>
    <p:sldId id="277" r:id="rId22"/>
    <p:sldId id="279" r:id="rId23"/>
    <p:sldId id="274" r:id="rId24"/>
    <p:sldId id="280" r:id="rId25"/>
    <p:sldId id="283" r:id="rId26"/>
    <p:sldId id="281" r:id="rId27"/>
    <p:sldId id="282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6CDF9F-ADA0-4C49-A263-B2AE48107B92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C11A69-C4DC-406E-8104-7D6732DB19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57582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C11A69-C4DC-406E-8104-7D6732DB19CE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755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0C78A-F4CD-0FDA-EC88-24C016C4A2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A7C650-9D3B-E309-69E6-CD9E18D584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E04841-5E1A-4BD5-92E4-C8D181E46F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91989-5B69-E244-F458-BA2D26913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DD094A-D779-1AA8-12A5-1D8958453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7833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92D0B-54B0-6613-4569-B5881188A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D95482-8AFD-B092-D6C6-9DED14291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EBB9E-5AE4-738D-FA61-E8D070F400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86DB14-BE06-67B1-CCCF-FCC99E498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17EF8-9DC1-87EE-E77F-5E05F93FB0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75D4-5CD8-0275-2620-284E8726E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7643A6-94E2-BF40-CF05-22B6AF6832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15448-2313-97BE-0E13-9A3151A3A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6F6E3A-02A4-3D05-A9F3-7269D8E5D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1AE9E-E0C6-45B3-5FB3-EA2EFF4B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687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DE8C1-83F4-9CBF-D99F-E0DA55B162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781AC-CA49-0172-E91E-2F1A767615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FAEB34-6D8A-D27B-9531-B692042B6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6BEA4B-3CEF-C2F1-F7F5-22FC3642F1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8B1AA3-16C2-0775-6F66-D3B2D31B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8D5560-C456-A5AB-11C8-1B6046ED1B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39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9FC30-E8C3-356D-172F-2766C812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5ADB18-D63A-D291-8475-A453E04F65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782FCE-2B6C-A3F4-5721-AC17502911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F1286A-B462-7A53-EF71-CF9087087D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D4611D-F33A-F838-5447-2180A329B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6F7A97F-A5BC-0B0B-889F-94470413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036B8DF-5C78-4EA4-254E-774CB71A4B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F2D90F-F225-BE15-76DD-A5EE779CE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9420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81E0D-5EEC-DF21-2A69-4F07330FF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10C09D7-2167-7005-A150-447CED8DD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D2E2BF-E374-3DBE-D8DB-85BDF1E1D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DFCDA0-D921-DEB9-FD8E-DD47118B1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927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F8E1A54-B8BB-F1C0-5FFE-EA35B66C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93D83E-4AB5-DA60-4263-B2AF169633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9D5B0-B383-D3C0-9FCF-5118791DB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20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7212-AF07-92F8-B1F9-AB1F8192B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150FC9-FA3C-A1F5-F5F9-AD2E33F82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28CD51-724D-2A5D-F773-32F25081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381B7-7206-940F-3662-CBDB9A088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C0D2C9-C78F-AFFC-AE7D-16BE820D60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9ADF8E-EC42-D60A-C9A0-A0B7A8A50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5691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88803-2949-71C8-037B-B365FCD5CD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6590F4-D142-5168-71A0-A55AF5D954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032CF9-03CB-DCBF-1D6C-6622820743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40A80B-88ED-F56E-FE73-EC5911BD9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E0D1D-5CED-656C-C16F-72EBF4E4E6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8229A6-106C-047D-A551-D9DD57562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078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62DA4-1173-9AAD-DE24-EEDF9568F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80DB68-88C7-B088-61F0-4B6FD7C8BA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E2458-677E-2FDD-A4B0-0B9519535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4A8C29-4BCD-0119-3EAA-548C720D1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4A19BD-0211-EB12-644F-6C2AF7645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6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622459-D0F4-280E-B70F-753BBED95C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2DA24B-4274-FFFE-AE92-0BA71BBC3C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E71E9-CB92-AE50-9AF0-1F4DCDF41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B87160-B5BD-4FFA-C32A-6AD7BC6CB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F36B3C-2B36-B138-D77D-DA1FADA1C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361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34042D-1FE3-35EE-EB21-53FE4BF717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50F2E6-4584-42A5-F586-2EDC903CA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3131ED-CE28-C005-019F-4E34AC87F8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8BF7D9-AC52-4AC2-BEDB-A5D1257FD4A4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955C63-3347-2686-0219-3664FF6702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307C1E-6AEB-4ED0-8C97-05F0E0721B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E614A9-5EB2-4A52-A0DF-3511FE3F92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11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0BBDF-1F9C-E2DA-46DB-10E32DD00B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Kaggle!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3CAAD2D-036B-1777-B967-388659D5E9C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5578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C24E7-64A5-6CAB-7E8A-A108B704D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6DD49-DAFD-0236-7D77-38DBCDD8CA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  <a:p>
            <a:r>
              <a:rPr lang="en-US"/>
              <a:t>How to start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352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9E77E-8909-5F48-22E9-AFF520979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is Kaggle?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9ABC3-B479-FDD6-0A21-52EDEDD661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Kaggle has:</a:t>
            </a:r>
          </a:p>
          <a:p>
            <a:pPr lvl="1"/>
            <a:r>
              <a:rPr lang="en-US"/>
              <a:t>Intro courses to ML (and LLMs)</a:t>
            </a:r>
          </a:p>
          <a:p>
            <a:pPr lvl="1"/>
            <a:r>
              <a:rPr lang="en-US"/>
              <a:t>DataSets</a:t>
            </a:r>
          </a:p>
          <a:p>
            <a:pPr lvl="1"/>
            <a:r>
              <a:rPr lang="en-US"/>
              <a:t>Various models from other users</a:t>
            </a:r>
          </a:p>
          <a:p>
            <a:pPr lvl="1"/>
            <a:r>
              <a:rPr lang="en-US"/>
              <a:t>Data-Related Competitions</a:t>
            </a:r>
          </a:p>
          <a:p>
            <a:pPr lvl="1"/>
            <a:r>
              <a:rPr lang="en-US"/>
              <a:t>Colab-like Notebook (to run Pythons, etc.)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28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BEA4F-E4AE-CD64-4C64-BDE9E87D2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do: Intro to Machine Learning!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6F1A7-F40E-4567-5B52-05C4701E79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https://www.kaggle.com/learn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E59A01-0CC0-D5A5-B71A-2BC1D84B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483444"/>
            <a:ext cx="6779821" cy="369351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B60847-02D6-4350-9243-70AB0E7A3EA9}"/>
              </a:ext>
            </a:extLst>
          </p:cNvPr>
          <p:cNvSpPr txBox="1"/>
          <p:nvPr/>
        </p:nvSpPr>
        <p:spPr>
          <a:xfrm>
            <a:off x="838200" y="120415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https://www.kaggle.com/learn/intro-to-machine-learning</a:t>
            </a:r>
          </a:p>
        </p:txBody>
      </p:sp>
    </p:spTree>
    <p:extLst>
      <p:ext uri="{BB962C8B-B14F-4D97-AF65-F5344CB8AC3E}">
        <p14:creationId xmlns:p14="http://schemas.microsoft.com/office/powerpoint/2010/main" val="34065149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BE3FB-0D06-8486-9D72-5DD6C7EFE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Notebook?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19A2D6-E9E5-F468-91B5-976591EDD9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/>
              <a:t>Much-like Colab jupyter notebook, etc., but suggested to be better than colab.</a:t>
            </a:r>
          </a:p>
          <a:p>
            <a:pPr lvl="1"/>
            <a:r>
              <a:rPr lang="en-US"/>
              <a:t>kaggle.com/code</a:t>
            </a:r>
          </a:p>
          <a:p>
            <a:r>
              <a:rPr lang="en-US"/>
              <a:t>Usage:</a:t>
            </a:r>
          </a:p>
          <a:p>
            <a:pPr lvl="1"/>
            <a:r>
              <a:rPr lang="en-US"/>
              <a:t>Shift+Enter </a:t>
            </a:r>
            <a:r>
              <a:rPr lang="en-US">
                <a:sym typeface="Wingdings" panose="05000000000000000000" pitchFamily="2" charset="2"/>
              </a:rPr>
              <a:t> Execute &amp; move next cell (creates if not exists)</a:t>
            </a:r>
            <a:endParaRPr lang="en-US"/>
          </a:p>
          <a:p>
            <a:r>
              <a:rPr lang="en-US"/>
              <a:t>docs: https://www.kaggle.com/docs/notebooks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5C24D3E-AD0E-7FC3-B3A3-529ED556458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44557" y="1825625"/>
            <a:ext cx="403688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212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A59F5-6FD8-9574-B7C1-8DA1AF0F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Kaggle Datasets?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C251E9E4-3AF9-94F5-D005-84E47457E1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27788" y="1825625"/>
            <a:ext cx="7336424" cy="435133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6A3C0A8-2279-C50D-C0D6-822FB655C6A3}"/>
              </a:ext>
            </a:extLst>
          </p:cNvPr>
          <p:cNvSpPr txBox="1"/>
          <p:nvPr/>
        </p:nvSpPr>
        <p:spPr>
          <a:xfrm>
            <a:off x="6096000" y="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https://www.kaggle.com/datasets/dansbecker/melbourne-housing-snapshot</a:t>
            </a:r>
          </a:p>
        </p:txBody>
      </p:sp>
    </p:spTree>
    <p:extLst>
      <p:ext uri="{BB962C8B-B14F-4D97-AF65-F5344CB8AC3E}">
        <p14:creationId xmlns:p14="http://schemas.microsoft.com/office/powerpoint/2010/main" val="24748413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87525-646D-943A-B9B1-10AD74F280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Download to the Notebook!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AFE431-B13F-27A2-56FE-F5CB8B9AB9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60587" y="1825625"/>
            <a:ext cx="807082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2489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510A8-F740-01AC-8291-0A49E991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Exercise!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2D4C21E-E965-BA23-8B91-0E0DA576538D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238546"/>
            <a:ext cx="5181600" cy="3525495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1D5C6F3-5730-0455-C1C8-C5CE7F4FDA3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B55206-6A2B-D1D0-9883-BD29F5BCFB57}"/>
              </a:ext>
            </a:extLst>
          </p:cNvPr>
          <p:cNvSpPr txBox="1"/>
          <p:nvPr/>
        </p:nvSpPr>
        <p:spPr>
          <a:xfrm>
            <a:off x="0" y="-42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https://www.kaggle.com/kernels/fork/1258954</a:t>
            </a:r>
          </a:p>
        </p:txBody>
      </p:sp>
    </p:spTree>
    <p:extLst>
      <p:ext uri="{BB962C8B-B14F-4D97-AF65-F5344CB8AC3E}">
        <p14:creationId xmlns:p14="http://schemas.microsoft.com/office/powerpoint/2010/main" val="4163795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FFFDA5-5CE1-18B0-91A6-7B9F1717A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More Exercise! (exercises on what learned form the ‘learning website’)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34334E-6659-B1F8-1E77-ED37B115B2E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343537"/>
            <a:ext cx="5181600" cy="3315514"/>
          </a:xfrm>
          <a:prstGeom prst="rect">
            <a:avLst/>
          </a:prstGeom>
        </p:spPr>
      </p:pic>
      <p:pic>
        <p:nvPicPr>
          <p:cNvPr id="15" name="Content Placeholder 14">
            <a:extLst>
              <a:ext uri="{FF2B5EF4-FFF2-40B4-BE49-F238E27FC236}">
                <a16:creationId xmlns:a16="http://schemas.microsoft.com/office/drawing/2014/main" id="{F12DAACC-9869-DD24-9065-9D891EBD001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888524"/>
            <a:ext cx="5181600" cy="30809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EF44D74-50A0-5D1D-6E2F-79F2ED9752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1" y="4759327"/>
            <a:ext cx="3098800" cy="204270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4D2A620D-CC68-B8DC-F74E-3327009C48AD}"/>
              </a:ext>
            </a:extLst>
          </p:cNvPr>
          <p:cNvSpPr txBox="1"/>
          <p:nvPr/>
        </p:nvSpPr>
        <p:spPr>
          <a:xfrm>
            <a:off x="143934" y="649287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https://www.kaggle.com/discussions/getting-started/60581</a:t>
            </a:r>
          </a:p>
        </p:txBody>
      </p:sp>
    </p:spTree>
    <p:extLst>
      <p:ext uri="{BB962C8B-B14F-4D97-AF65-F5344CB8AC3E}">
        <p14:creationId xmlns:p14="http://schemas.microsoft.com/office/powerpoint/2010/main" val="6277471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720BB6-7086-E060-E636-5A2D12B36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 code?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427F8D9-C702-52BF-E382-E72E596E281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2174167"/>
            <a:ext cx="5181600" cy="3654253"/>
          </a:xfrm>
          <a:prstGeom prst="rect">
            <a:avLst/>
          </a:prstGeom>
        </p:spPr>
      </p:pic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B270BBC-DF24-CF5E-CEC4-F3107D717F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/>
              <a:t>ChatGPT says that this is simply for local downloading the result of Kaggle notebooks.</a:t>
            </a:r>
          </a:p>
          <a:p>
            <a:r>
              <a:rPr lang="en-US"/>
              <a:t>For beginners, almost 100% not necessary.</a:t>
            </a:r>
          </a:p>
          <a:p>
            <a:r>
              <a:rPr lang="en-US"/>
              <a:t>Used for</a:t>
            </a:r>
          </a:p>
          <a:p>
            <a:pPr lvl="1"/>
            <a:r>
              <a:rPr lang="en-US"/>
              <a:t>local analysis / reproduction</a:t>
            </a:r>
          </a:p>
          <a:p>
            <a:pPr lvl="1"/>
            <a:r>
              <a:rPr lang="en-US"/>
              <a:t>automizing competition</a:t>
            </a:r>
          </a:p>
          <a:p>
            <a:pPr lvl="1"/>
            <a:r>
              <a:rPr lang="en-US"/>
              <a:t>extracting only the results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C8EF07-C2C6-88B8-C3C8-F0877CA5C62A}"/>
              </a:ext>
            </a:extLst>
          </p:cNvPr>
          <p:cNvSpPr txBox="1"/>
          <p:nvPr/>
        </p:nvSpPr>
        <p:spPr>
          <a:xfrm>
            <a:off x="5418667" y="704740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https://www.kaggle.com/code/dansbecker/basic-data-exploration/data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4F86-E9AB-D2D7-7C19-A62C0A758B95}"/>
              </a:ext>
            </a:extLst>
          </p:cNvPr>
          <p:cNvSpPr txBox="1"/>
          <p:nvPr/>
        </p:nvSpPr>
        <p:spPr>
          <a:xfrm>
            <a:off x="76200" y="5988733"/>
            <a:ext cx="601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 kernels output dansbecker/basic-data-exploration -p ./output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287D1E-6730-5DC3-9A50-982156E19E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53800" y="2030303"/>
            <a:ext cx="4910628" cy="480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0862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9E750-09C1-08C1-733B-43BAEF490F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TIP: Notebook sidebar tab </a:t>
            </a:r>
            <a:r>
              <a:rPr lang="ko-KR" altLang="en-US"/>
              <a:t>안보일 때</a:t>
            </a:r>
            <a:r>
              <a:rPr lang="en-US" altLang="ko-KR"/>
              <a:t>!</a:t>
            </a:r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087D4655-9AC0-A143-9964-10CD2FB7D8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4268" y="1825625"/>
            <a:ext cx="8083463" cy="4351338"/>
          </a:xfrm>
          <a:prstGeom prst="rect">
            <a:avLst/>
          </a:prstGeom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626116F1-3D31-82DE-60B6-4FA20045C7E1}"/>
              </a:ext>
            </a:extLst>
          </p:cNvPr>
          <p:cNvSpPr/>
          <p:nvPr/>
        </p:nvSpPr>
        <p:spPr>
          <a:xfrm>
            <a:off x="9499600" y="3937001"/>
            <a:ext cx="1134533" cy="1887008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5598CD-0B6A-95D7-063E-B40AEE9924D5}"/>
              </a:ext>
            </a:extLst>
          </p:cNvPr>
          <p:cNvSpPr txBox="1"/>
          <p:nvPr/>
        </p:nvSpPr>
        <p:spPr>
          <a:xfrm>
            <a:off x="9261390" y="6168774"/>
            <a:ext cx="2699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이 쪼꼬만걸 누르면 된다</a:t>
            </a:r>
            <a:r>
              <a:rPr lang="en-US" altLang="ko-KR"/>
              <a:t>!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16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866F3-C5E8-5834-2429-DC4B50E93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01E691F-2C09-2E8C-6F23-7E589F7E3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18745" y="1825625"/>
            <a:ext cx="815450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2401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F3211-70CC-E7A9-D4D5-F4B5A741E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260206 - Kaggle Pandas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05F37-AA7B-1C97-D748-8464DDE28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6</a:t>
            </a:r>
            <a:r>
              <a:rPr lang="ko-KR" altLang="en-US"/>
              <a:t>개 </a:t>
            </a:r>
            <a:r>
              <a:rPr lang="en-US" altLang="ko-KR"/>
              <a:t>sub-category</a:t>
            </a:r>
            <a:r>
              <a:rPr lang="ko-KR" altLang="en-US"/>
              <a:t>가 존재한다</a:t>
            </a:r>
            <a:r>
              <a:rPr lang="en-US" altLang="ko-KR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Creating,</a:t>
            </a:r>
            <a:r>
              <a:rPr lang="ko-KR" altLang="en-US"/>
              <a:t> </a:t>
            </a:r>
            <a:r>
              <a:rPr lang="en-US" altLang="ko-KR"/>
              <a:t>Reading</a:t>
            </a:r>
            <a:r>
              <a:rPr lang="ko-KR" altLang="en-US"/>
              <a:t> </a:t>
            </a:r>
            <a:r>
              <a:rPr lang="en-US" altLang="ko-KR"/>
              <a:t>ad</a:t>
            </a:r>
            <a:r>
              <a:rPr lang="ko-KR" altLang="en-US"/>
              <a:t> </a:t>
            </a:r>
            <a:r>
              <a:rPr lang="en-US" altLang="ko-KR"/>
              <a:t>Writing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Indexing, Selecting &amp; Assigning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Summary Functions and Maps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Grouping and Sorting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Data Types and Missing Values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/>
              <a:t>Renaming and Combining</a:t>
            </a:r>
          </a:p>
          <a:p>
            <a:r>
              <a:rPr lang="ko-KR" altLang="en-US"/>
              <a:t>오전</a:t>
            </a:r>
            <a:r>
              <a:rPr lang="en-US" altLang="ko-KR"/>
              <a:t>: 1, 2</a:t>
            </a:r>
            <a:r>
              <a:rPr lang="ko-KR" altLang="en-US"/>
              <a:t>번을 했다</a:t>
            </a:r>
            <a:r>
              <a:rPr lang="en-US" altLang="ko-KR"/>
              <a:t>.</a:t>
            </a:r>
          </a:p>
          <a:p>
            <a:r>
              <a:rPr lang="ko-KR" altLang="en-US"/>
              <a:t>오후</a:t>
            </a:r>
            <a:r>
              <a:rPr lang="en-US" altLang="ko-KR"/>
              <a:t>: 3</a:t>
            </a:r>
            <a:r>
              <a:rPr lang="ko-KR" altLang="en-US"/>
              <a:t>번 겨우 끝내고 </a:t>
            </a:r>
            <a:r>
              <a:rPr lang="en-US" altLang="ko-KR"/>
              <a:t>4</a:t>
            </a:r>
            <a:r>
              <a:rPr lang="ko-KR" altLang="en-US"/>
              <a:t>번 시도하다가 못하는거 알고 일단 여기까지함</a:t>
            </a:r>
            <a:endParaRPr lang="en-US" altLang="ko-KR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8393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D9A87-388C-78BF-D35F-A4A0089F4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/>
              <a:t>인상적이었던 점</a:t>
            </a:r>
            <a:br>
              <a:rPr lang="en-US" altLang="ko-KR"/>
            </a:br>
            <a:r>
              <a:rPr lang="en-US" altLang="ko-KR"/>
              <a:t>:</a:t>
            </a:r>
            <a:r>
              <a:rPr lang="ko-KR" altLang="en-US"/>
              <a:t> 문제가 많이 불분명했다</a:t>
            </a:r>
            <a:r>
              <a:rPr lang="en-US" altLang="ko-KR"/>
              <a:t>. </a:t>
            </a:r>
            <a:r>
              <a:rPr lang="en-US" altLang="ko-KR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깊이 파다가 시간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머리 소모됨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6F394-6D3D-40B1-06B3-18D96725F9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문제가 어려웠다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문제에 필요한 지식을 배운 적이 없는데 그걸로 딸깍 답을 냈음 </a:t>
            </a:r>
            <a:r>
              <a:rPr lang="en-US" altLang="ko-KR"/>
              <a:t>(</a:t>
            </a:r>
            <a:r>
              <a:rPr lang="ko-KR" altLang="en-US"/>
              <a:t>나는 혼자서 기존 지식만으로 겨우 해냈지만</a:t>
            </a:r>
            <a:r>
              <a:rPr lang="en-US" altLang="ko-KR"/>
              <a:t>… </a:t>
            </a:r>
            <a:r>
              <a:rPr lang="ko-KR" altLang="en-US"/>
              <a:t>ㅇㅇ</a:t>
            </a:r>
            <a:r>
              <a:rPr lang="en-US" altLang="ko-KR"/>
              <a:t>)</a:t>
            </a:r>
          </a:p>
          <a:p>
            <a:pPr lvl="2"/>
            <a:r>
              <a:rPr lang="en-US" altLang="ko-KR"/>
              <a:t>E.g. 3</a:t>
            </a:r>
            <a:r>
              <a:rPr lang="ko-KR" altLang="en-US"/>
              <a:t>강의 </a:t>
            </a:r>
            <a:r>
              <a:rPr lang="en-US" altLang="ko-KR"/>
              <a:t>5</a:t>
            </a:r>
            <a:r>
              <a:rPr lang="ko-KR" altLang="en-US"/>
              <a:t>번 문제</a:t>
            </a:r>
            <a:endParaRPr lang="en-US" altLang="ko-KR"/>
          </a:p>
          <a:p>
            <a:pPr lvl="1"/>
            <a:r>
              <a:rPr lang="ko-KR" altLang="en-US"/>
              <a:t>문제가 너무 불명확하게 주워졌음</a:t>
            </a:r>
            <a:r>
              <a:rPr lang="en-US" altLang="ko-KR"/>
              <a:t>. </a:t>
            </a:r>
            <a:r>
              <a:rPr lang="ko-KR" altLang="en-US"/>
              <a:t>근데 또 할만한 것 같긴 해서 </a:t>
            </a:r>
            <a:r>
              <a:rPr lang="en-US" altLang="ko-KR"/>
              <a:t>Gemini</a:t>
            </a:r>
            <a:r>
              <a:rPr lang="ko-KR" altLang="en-US"/>
              <a:t>랑 같이 많이 팠다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도저히 아닌 것 같을 때 </a:t>
            </a:r>
            <a:r>
              <a:rPr lang="en-US" altLang="ko-KR"/>
              <a:t>Hint + Solution</a:t>
            </a:r>
            <a:r>
              <a:rPr lang="ko-KR" altLang="en-US"/>
              <a:t>을 보고 나서 원래 넣었어야 했던 말을 드디어 찾았다</a:t>
            </a:r>
            <a:r>
              <a:rPr lang="en-US" altLang="ko-KR"/>
              <a:t>.</a:t>
            </a:r>
          </a:p>
          <a:p>
            <a:pPr lvl="2"/>
            <a:r>
              <a:rPr lang="en-US"/>
              <a:t>…</a:t>
            </a:r>
            <a:r>
              <a:rPr lang="ko-KR" altLang="en-US"/>
              <a:t>말하기도 쉽지 않다</a:t>
            </a:r>
            <a:r>
              <a:rPr lang="en-US" altLang="ko-KR"/>
              <a:t>. </a:t>
            </a:r>
            <a:r>
              <a:rPr lang="ko-KR" altLang="en-US"/>
              <a:t>그거 푸느라 </a:t>
            </a:r>
            <a:r>
              <a:rPr lang="en-US" altLang="ko-KR"/>
              <a:t>1</a:t>
            </a:r>
            <a:r>
              <a:rPr lang="ko-KR" altLang="en-US"/>
              <a:t>시간걸렸다</a:t>
            </a:r>
            <a:r>
              <a:rPr lang="en-US" altLang="ko-KR"/>
              <a:t>…</a:t>
            </a: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6184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E6946-5B95-3E14-3406-28BE538F3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</a:t>
            </a:r>
            <a:r>
              <a:rPr lang="ko-KR" altLang="en-US"/>
              <a:t>번문제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EAF93-44C6-9A85-BA29-BBED97DB9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어렵게 해결함</a:t>
            </a:r>
            <a:endParaRPr lang="en-US" altLang="ko-KR"/>
          </a:p>
          <a:p>
            <a:endParaRPr lang="en-US"/>
          </a:p>
          <a:p>
            <a:r>
              <a:rPr lang="ko-KR" altLang="en-US"/>
              <a:t>힌트</a:t>
            </a:r>
            <a:r>
              <a:rPr lang="en-US" altLang="ko-KR"/>
              <a:t>/</a:t>
            </a:r>
            <a:r>
              <a:rPr lang="ko-KR" altLang="en-US"/>
              <a:t>답 보고 나니 이게 한줄코드네</a:t>
            </a:r>
            <a:r>
              <a:rPr lang="en-US" altLang="ko-KR"/>
              <a:t>? </a:t>
            </a:r>
            <a:r>
              <a:rPr lang="ko-KR" altLang="en-US"/>
              <a:t>싶어서 좀 어이없었음</a:t>
            </a:r>
            <a:r>
              <a:rPr lang="en-US" altLang="ko-KR"/>
              <a:t>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50765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DCD98-8575-241E-0A49-25CF271B23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17F2A28-075B-7952-0167-611381A94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C29ECE-00AA-76BC-E989-2842B7A3D8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EB2F0F2-0FC7-0EB5-4EB3-D859F43BE9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E0053A-3FA6-171C-7D69-5733B1A9581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the number of rows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F25F5A-E2C4-404E-09F2-7E72422DA21B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</p:spTree>
    <p:extLst>
      <p:ext uri="{BB962C8B-B14F-4D97-AF65-F5344CB8AC3E}">
        <p14:creationId xmlns:p14="http://schemas.microsoft.com/office/powerpoint/2010/main" val="19467039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ABEDA-8CEE-A35C-89AF-DA67D1BC6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F921B-C9E4-A4A4-386B-B02728CE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35FD7B0-EFF0-1889-AFD3-D9627E99E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118274-048F-9394-4BCF-3B7E4A6C9E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92781BBE-0C0F-1C54-34F2-CB65403494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A42501F-D946-692C-99DB-8E50AD39993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/>
          </a:bodyPr>
          <a:lstStyle/>
          <a:p>
            <a:r>
              <a:rPr lang="ko-KR" altLang="en-US"/>
              <a:t>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73065-0A68-6EE7-1F85-AD7B0AD217D5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BBF7D6-2A25-5A23-E4A5-6754A1C6B46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12904816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E9A1B-0CC1-A278-C707-784207168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0D153-484B-6EE3-E7DE-7A26F1D02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2B31B96-4BCC-D6ED-AEC8-60FC6A8B84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D52FD1-A359-3754-29BE-BD102DAF413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C0979E-5BA1-245A-587D-854989284B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/>
          </a:bodyPr>
          <a:lstStyle/>
          <a:p>
            <a:r>
              <a:rPr lang="ko-KR" altLang="en-US"/>
              <a:t>내가 했던 생각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36F4863-EF56-916B-B6DC-D4D4674C90D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0000" lnSpcReduction="20000"/>
          </a:bodyPr>
          <a:lstStyle/>
          <a:p>
            <a:r>
              <a:rPr lang="ko-KR" altLang="en-US"/>
              <a:t>했던 생각</a:t>
            </a:r>
            <a:endParaRPr lang="en-US" altLang="ko-KR"/>
          </a:p>
          <a:p>
            <a:pPr lvl="1"/>
            <a:r>
              <a:rPr lang="ko-KR" altLang="en-US"/>
              <a:t>와인별로 세는것만 해도 음</a:t>
            </a:r>
            <a:r>
              <a:rPr lang="en-US" altLang="ko-KR"/>
              <a:t>.. KMP</a:t>
            </a:r>
            <a:r>
              <a:rPr lang="ko-KR" altLang="en-US"/>
              <a:t>를 활용할 수 있겠고 와인별로 센 것의 합을 구하라고하면 그 </a:t>
            </a:r>
            <a:r>
              <a:rPr lang="en-US" altLang="ko-KR"/>
              <a:t>table</a:t>
            </a:r>
            <a:r>
              <a:rPr lang="ko-KR" altLang="en-US"/>
              <a:t>을 걍 합치면 되겠군</a:t>
            </a:r>
            <a:endParaRPr lang="en-US" altLang="ko-KR"/>
          </a:p>
          <a:p>
            <a:pPr lvl="1"/>
            <a:r>
              <a:rPr lang="en-US" altLang="ko-KR"/>
              <a:t>... </a:t>
            </a:r>
            <a:r>
              <a:rPr lang="ko-KR" altLang="en-US"/>
              <a:t>이거 맞아</a:t>
            </a:r>
            <a:r>
              <a:rPr lang="en-US" altLang="ko-KR"/>
              <a:t>???</a:t>
            </a:r>
          </a:p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en-US" altLang="ko-KR"/>
              <a:t>Q1</a:t>
            </a:r>
            <a:r>
              <a:rPr lang="ko-KR" altLang="en-US"/>
              <a:t>에 대한 가정</a:t>
            </a:r>
            <a:endParaRPr lang="en-US" altLang="ko-KR"/>
          </a:p>
          <a:p>
            <a:pPr lvl="1"/>
            <a:r>
              <a:rPr lang="ko-KR" altLang="en-US"/>
              <a:t>아마 그렇게 등장하진 않을 것 같음</a:t>
            </a:r>
            <a:r>
              <a:rPr lang="en-US" altLang="ko-KR"/>
              <a:t>! (</a:t>
            </a:r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둘 중 한 단어만 최대 </a:t>
            </a:r>
            <a:r>
              <a:rPr lang="en-US" altLang="ko-KR"/>
              <a:t>1</a:t>
            </a:r>
            <a:r>
              <a:rPr lang="ko-KR" altLang="en-US"/>
              <a:t>번까지만 나올 것 같음</a:t>
            </a:r>
            <a:r>
              <a:rPr lang="en-US" altLang="ko-KR"/>
              <a:t>!)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6B8CCD-B6E6-0EA0-3757-45E97F5139C6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BD47EC-1AB2-F193-24BA-ABDA22565D12}"/>
              </a:ext>
            </a:extLst>
          </p:cNvPr>
          <p:cNvSpPr txBox="1"/>
          <p:nvPr/>
        </p:nvSpPr>
        <p:spPr>
          <a:xfrm>
            <a:off x="76200" y="6488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https://gemini.google.com/share/18a93bbfb060</a:t>
            </a:r>
          </a:p>
        </p:txBody>
      </p:sp>
    </p:spTree>
    <p:extLst>
      <p:ext uri="{BB962C8B-B14F-4D97-AF65-F5344CB8AC3E}">
        <p14:creationId xmlns:p14="http://schemas.microsoft.com/office/powerpoint/2010/main" val="20467314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E8188C4-473F-5F4E-8352-32178D546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실제 문장을 보고 더욱 기겁함 </a:t>
            </a:r>
            <a:r>
              <a:rPr lang="en-US" altLang="ko-KR"/>
              <a:t>(2</a:t>
            </a:r>
            <a:r>
              <a:rPr lang="ko-KR" altLang="en-US"/>
              <a:t>차기겁</a:t>
            </a:r>
            <a:r>
              <a:rPr lang="en-US" altLang="ko-KR"/>
              <a:t>)</a:t>
            </a:r>
            <a:endParaRPr lang="en-US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F0F654C-3B3E-C81D-3560-36A1E32BEE5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3954418"/>
            <a:ext cx="5181600" cy="2069414"/>
          </a:xfrm>
          <a:prstGeom prst="rect">
            <a:avLst/>
          </a:prstGeo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A42CC49-D3D5-844E-E753-CFB76F7FD1A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3485374"/>
            <a:ext cx="5181600" cy="300750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7B4772E-7791-B134-D60A-07E07846D7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96113"/>
            <a:ext cx="7506748" cy="1914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3165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3EC1B-B4E9-2327-F1C7-6858FB895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힌트 보고 </a:t>
            </a:r>
            <a:r>
              <a:rPr lang="en-US" altLang="ko-KR"/>
              <a:t>3</a:t>
            </a:r>
            <a:r>
              <a:rPr lang="ko-KR" altLang="en-US"/>
              <a:t>차기겁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F17111-535E-285F-3745-F847092FEB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Hint: Use a map to check each description for the string tropical, then count up the number of times this is True. Repeat this for fruity. Finally, create a Series combining the two values.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B9AFC2-CADB-0200-8F20-236AE9166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8598" y="3237995"/>
            <a:ext cx="9154803" cy="3620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3375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F8D5F-B6B7-308D-322B-8292FA145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답 틀린 에러 메시지 보고 </a:t>
            </a:r>
            <a:r>
              <a:rPr lang="en-US" altLang="ko-KR"/>
              <a:t>4</a:t>
            </a:r>
            <a:r>
              <a:rPr lang="ko-KR" altLang="en-US"/>
              <a:t>차기겁 </a:t>
            </a:r>
            <a:r>
              <a:rPr lang="en-US" altLang="ko-KR"/>
              <a:t>(Q2.</a:t>
            </a:r>
            <a:r>
              <a:rPr lang="ko-KR" altLang="en-US"/>
              <a:t>이슈</a:t>
            </a:r>
            <a:r>
              <a:rPr lang="en-US" altLang="ko-KR"/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99DEA-EFD1-569D-01B3-EB8D4FE17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의문점</a:t>
            </a:r>
            <a:endParaRPr lang="en-US" altLang="ko-KR"/>
          </a:p>
          <a:p>
            <a:pPr lvl="1"/>
            <a:r>
              <a:rPr lang="en-US" altLang="ko-KR"/>
              <a:t>Q1.</a:t>
            </a:r>
            <a:r>
              <a:rPr lang="ko-KR" altLang="en-US"/>
              <a:t> 오호</a:t>
            </a:r>
            <a:r>
              <a:rPr lang="en-US" altLang="ko-KR"/>
              <a:t>. </a:t>
            </a:r>
            <a:r>
              <a:rPr lang="ko-KR" altLang="en-US"/>
              <a:t>그럼 </a:t>
            </a:r>
            <a:r>
              <a:rPr lang="en-US" altLang="ko-KR"/>
              <a:t>'tropicalfruitytropical' </a:t>
            </a:r>
            <a:r>
              <a:rPr lang="ko-KR" altLang="en-US"/>
              <a:t>이라는 설명</a:t>
            </a:r>
            <a:r>
              <a:rPr lang="en-US" altLang="ko-KR"/>
              <a:t>(description)</a:t>
            </a:r>
            <a:r>
              <a:rPr lang="ko-KR" altLang="en-US"/>
              <a:t>에서는 </a:t>
            </a:r>
            <a:r>
              <a:rPr lang="en-US" altLang="ko-KR"/>
              <a:t>2</a:t>
            </a:r>
            <a:r>
              <a:rPr lang="ko-KR" altLang="en-US"/>
              <a:t>개</a:t>
            </a:r>
            <a:r>
              <a:rPr lang="en-US" altLang="ko-KR"/>
              <a:t>,1</a:t>
            </a:r>
            <a:r>
              <a:rPr lang="ko-KR" altLang="en-US"/>
              <a:t>개 각각을 세야하는것</a:t>
            </a:r>
            <a:r>
              <a:rPr lang="en-US" altLang="ko-KR"/>
              <a:t>?</a:t>
            </a:r>
          </a:p>
          <a:p>
            <a:pPr lvl="1"/>
            <a:r>
              <a:rPr lang="en-US" altLang="ko-KR"/>
              <a:t>Q2. </a:t>
            </a:r>
            <a:r>
              <a:rPr lang="ko-KR" altLang="en-US"/>
              <a:t>와인별로 세는건가</a:t>
            </a:r>
            <a:r>
              <a:rPr lang="en-US" altLang="ko-KR"/>
              <a:t>, </a:t>
            </a:r>
            <a:r>
              <a:rPr lang="ko-KR" altLang="en-US"/>
              <a:t>단어별로 세는건가</a:t>
            </a:r>
            <a:r>
              <a:rPr lang="en-US" altLang="ko-KR"/>
              <a:t>?</a:t>
            </a:r>
          </a:p>
          <a:p>
            <a:r>
              <a:rPr lang="ko-KR" altLang="en-US"/>
              <a:t>와인별로 세어버렸음</a:t>
            </a:r>
            <a:r>
              <a:rPr lang="en-US" altLang="ko-KR"/>
              <a:t>. </a:t>
            </a:r>
            <a:r>
              <a:rPr lang="ko-KR" altLang="en-US"/>
              <a:t>단어별로 세도록 고치기만 하면 되기는 한데</a:t>
            </a:r>
            <a:r>
              <a:rPr lang="en-US" altLang="ko-KR"/>
              <a:t>… </a:t>
            </a:r>
            <a:r>
              <a:rPr lang="ko-KR" altLang="en-US"/>
              <a:t>이미 </a:t>
            </a:r>
            <a:r>
              <a:rPr lang="en-US" altLang="ko-KR"/>
              <a:t>3</a:t>
            </a:r>
            <a:r>
              <a:rPr lang="ko-KR" altLang="en-US"/>
              <a:t>차기겁한 시점에서 통과가 안되었고 이것도 불명확했다는 점에서 멘붕이 온 것 같음</a:t>
            </a:r>
            <a:r>
              <a:rPr lang="en-US" altLang="ko-KR"/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656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4BED7-2319-0347-E164-E08FBDFC7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97116-47A9-F98D-6F5A-E2ADBD138B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악랄한 </a:t>
            </a:r>
            <a:r>
              <a:rPr lang="en-US" altLang="ko-KR"/>
              <a:t>6</a:t>
            </a:r>
            <a:r>
              <a:rPr lang="ko-KR" altLang="en-US"/>
              <a:t>번 문제</a:t>
            </a:r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871F3D4-32A8-A455-EE94-699DC6AD2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원래 문제 내용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97FA4A-1E86-B15B-8E83-ADDE07E7800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Create a Series `descriptor_counts` counting how many times each of these two words appears in the `description` column in the dataset. (For simplicity, let's ignore the capitalized versions of these words.)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F7DD38A-8960-2E01-7804-E31FD35A2B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/>
              <a:t>실제 요구한 내용</a:t>
            </a:r>
            <a:endParaRPr lang="en-US"/>
          </a:p>
          <a:p>
            <a:r>
              <a:rPr lang="en-US"/>
              <a:t>Hint + solution + gemini3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7004BCE-4ED0-89CD-04B4-DE3089F9003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"Create a Series `descriptor_counts` where each value is </a:t>
            </a:r>
            <a:r>
              <a:rPr lang="en-US" b="1"/>
              <a:t>the number of rows</a:t>
            </a:r>
            <a:r>
              <a:rPr lang="en-US"/>
              <a:t> containing the words 'tropical' or 'fruity' (at least once) in the `description` column. (Ignore case, and ignore multiple occurrences within a single row.)"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7226E1-28C2-3577-0C70-43E85BA6DD2E}"/>
              </a:ext>
            </a:extLst>
          </p:cNvPr>
          <p:cNvSpPr txBox="1"/>
          <p:nvPr/>
        </p:nvSpPr>
        <p:spPr>
          <a:xfrm>
            <a:off x="5256212" y="104576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There are only so many words you can use when describing a bottle of wine. Is a wine more likely to be "tropical" or "fruity"?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2EC602-2F66-E97E-DC69-93B724DDB8D8}"/>
              </a:ext>
            </a:extLst>
          </p:cNvPr>
          <p:cNvSpPr txBox="1"/>
          <p:nvPr/>
        </p:nvSpPr>
        <p:spPr>
          <a:xfrm>
            <a:off x="98427" y="5657671"/>
            <a:ext cx="609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/>
              <a:t>의문점</a:t>
            </a:r>
            <a:endParaRPr lang="en-US" altLang="ko-KR" sz="1400"/>
          </a:p>
          <a:p>
            <a:pPr lvl="1"/>
            <a:r>
              <a:rPr lang="en-US" altLang="ko-KR" sz="1400"/>
              <a:t>Q1.</a:t>
            </a:r>
            <a:r>
              <a:rPr lang="ko-KR" altLang="en-US" sz="1400"/>
              <a:t> 오호</a:t>
            </a:r>
            <a:r>
              <a:rPr lang="en-US" altLang="ko-KR" sz="1400"/>
              <a:t>. </a:t>
            </a:r>
            <a:r>
              <a:rPr lang="ko-KR" altLang="en-US" sz="1400"/>
              <a:t>그럼 </a:t>
            </a:r>
            <a:r>
              <a:rPr lang="en-US" altLang="ko-KR" sz="1400"/>
              <a:t>'tropicalfruitytropical' </a:t>
            </a:r>
            <a:r>
              <a:rPr lang="ko-KR" altLang="en-US" sz="1400"/>
              <a:t>이라는 설명</a:t>
            </a:r>
            <a:r>
              <a:rPr lang="en-US" altLang="ko-KR" sz="1400"/>
              <a:t>(description)</a:t>
            </a:r>
            <a:r>
              <a:rPr lang="ko-KR" altLang="en-US" sz="1400"/>
              <a:t>에서는 </a:t>
            </a:r>
            <a:r>
              <a:rPr lang="en-US" altLang="ko-KR" sz="1400"/>
              <a:t>2</a:t>
            </a:r>
            <a:r>
              <a:rPr lang="ko-KR" altLang="en-US" sz="1400"/>
              <a:t>개</a:t>
            </a:r>
            <a:r>
              <a:rPr lang="en-US" altLang="ko-KR" sz="1400"/>
              <a:t>,1</a:t>
            </a:r>
            <a:r>
              <a:rPr lang="ko-KR" altLang="en-US" sz="1400"/>
              <a:t>개 각각을 세야하는것</a:t>
            </a:r>
            <a:r>
              <a:rPr lang="en-US" altLang="ko-KR" sz="1400"/>
              <a:t>? </a:t>
            </a:r>
            <a:r>
              <a:rPr lang="en-US" altLang="ko-KR" sz="1400" b="1"/>
              <a:t>1</a:t>
            </a:r>
            <a:r>
              <a:rPr lang="ko-KR" altLang="en-US" sz="1400" b="1"/>
              <a:t>번씩만 </a:t>
            </a:r>
            <a:r>
              <a:rPr lang="en-US" altLang="ko-KR" sz="1400" b="1"/>
              <a:t>!</a:t>
            </a:r>
          </a:p>
          <a:p>
            <a:pPr lvl="1"/>
            <a:r>
              <a:rPr lang="en-US" altLang="ko-KR" sz="1400"/>
              <a:t>Q2. </a:t>
            </a:r>
            <a:r>
              <a:rPr lang="ko-KR" altLang="en-US" sz="1400"/>
              <a:t>와인별로 세는건가</a:t>
            </a:r>
            <a:r>
              <a:rPr lang="en-US" altLang="ko-KR" sz="1400"/>
              <a:t>, </a:t>
            </a:r>
            <a:r>
              <a:rPr lang="ko-KR" altLang="en-US" sz="1400"/>
              <a:t>단어별로 세는건가</a:t>
            </a:r>
            <a:r>
              <a:rPr lang="en-US" altLang="ko-KR" sz="1400"/>
              <a:t>? </a:t>
            </a:r>
            <a:r>
              <a:rPr lang="ko-KR" altLang="en-US" sz="1400" b="1"/>
              <a:t>단어별</a:t>
            </a:r>
            <a:r>
              <a:rPr lang="en-US" altLang="ko-KR" sz="1400" b="1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1500861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2D8C2-827C-BD30-1B1C-D1FF2FAB9B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4-260220 - Kaggle Intermediate ML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EC2F18-FEEF-BF25-FB42-4CC1D3028B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/>
              <a:t>Pandas</a:t>
            </a:r>
            <a:r>
              <a:rPr lang="ko-KR" altLang="en-US"/>
              <a:t> </a:t>
            </a:r>
            <a:r>
              <a:rPr lang="en-US" altLang="ko-KR"/>
              <a:t>6</a:t>
            </a:r>
            <a:r>
              <a:rPr lang="ko-KR" altLang="en-US"/>
              <a:t>째 </a:t>
            </a:r>
            <a:r>
              <a:rPr lang="en-US" altLang="ko-KR"/>
              <a:t>Exercise </a:t>
            </a:r>
            <a:r>
              <a:rPr lang="ko-KR" altLang="en-US"/>
              <a:t>마저 끝냄</a:t>
            </a:r>
            <a:endParaRPr lang="en-US"/>
          </a:p>
          <a:p>
            <a:r>
              <a:rPr lang="en-US"/>
              <a:t>Intermediate ML</a:t>
            </a:r>
            <a:r>
              <a:rPr lang="ko-KR" altLang="en-US"/>
              <a:t>의 첫 두 강 수강 완료</a:t>
            </a:r>
            <a:r>
              <a:rPr lang="en-US" altLang="ko-KR"/>
              <a:t>, </a:t>
            </a:r>
            <a:r>
              <a:rPr lang="ko-KR" altLang="en-US"/>
              <a:t>셋째 강의 </a:t>
            </a:r>
            <a:r>
              <a:rPr lang="en-US" altLang="ko-KR"/>
              <a:t>exercise </a:t>
            </a:r>
            <a:r>
              <a:rPr lang="ko-KR" altLang="en-US"/>
              <a:t>중간까지 함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복습</a:t>
            </a:r>
            <a:r>
              <a:rPr lang="en-US" altLang="ko-KR"/>
              <a:t>: </a:t>
            </a:r>
            <a:r>
              <a:rPr lang="ko-KR" altLang="en-US"/>
              <a:t>모델 만들어서 제출하기</a:t>
            </a:r>
            <a:endParaRPr lang="en-US" altLang="ko-KR"/>
          </a:p>
          <a:p>
            <a:pPr lvl="1"/>
            <a:r>
              <a:rPr lang="en-US" altLang="ko-KR"/>
              <a:t>Missing</a:t>
            </a:r>
            <a:r>
              <a:rPr lang="ko-KR" altLang="en-US"/>
              <a:t> </a:t>
            </a:r>
            <a:r>
              <a:rPr lang="en-US" altLang="ko-KR"/>
              <a:t>Value</a:t>
            </a:r>
            <a:r>
              <a:rPr lang="ko-KR" altLang="en-US"/>
              <a:t> </a:t>
            </a:r>
            <a:r>
              <a:rPr lang="en-US" altLang="ko-KR"/>
              <a:t>Handling</a:t>
            </a:r>
          </a:p>
          <a:p>
            <a:pPr lvl="1"/>
            <a:r>
              <a:rPr lang="en-US"/>
              <a:t>Categorical</a:t>
            </a:r>
            <a:r>
              <a:rPr lang="ko-KR" altLang="en-US"/>
              <a:t> </a:t>
            </a:r>
            <a:r>
              <a:rPr lang="en-US" altLang="ko-KR"/>
              <a:t>Value</a:t>
            </a:r>
            <a:r>
              <a:rPr lang="ko-KR" altLang="en-US"/>
              <a:t> </a:t>
            </a:r>
            <a:r>
              <a:rPr lang="en-US" altLang="ko-KR"/>
              <a:t>Handling</a:t>
            </a:r>
            <a:r>
              <a:rPr lang="ko-KR" altLang="en-US"/>
              <a:t> </a:t>
            </a:r>
            <a:r>
              <a:rPr lang="en-US" altLang="ko-KR"/>
              <a:t>(ordinal - ordinal encoding, nomial values - one-hot-encoding)</a:t>
            </a:r>
            <a:endParaRPr lang="en-US"/>
          </a:p>
          <a:p>
            <a:r>
              <a:rPr lang="en-US"/>
              <a:t>+ </a:t>
            </a:r>
            <a:r>
              <a:rPr lang="ko-KR" altLang="en-US"/>
              <a:t>이후에 </a:t>
            </a:r>
            <a:r>
              <a:rPr lang="en-US" altLang="ko-KR"/>
              <a:t>“feature engineering” </a:t>
            </a:r>
            <a:r>
              <a:rPr lang="ko-KR" altLang="en-US"/>
              <a:t>을 다룰 수 있다고 한다</a:t>
            </a:r>
            <a:r>
              <a:rPr lang="en-US" altLang="ko-KR"/>
              <a:t>.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그거까지 끝내면 좋을듯</a:t>
            </a:r>
            <a:r>
              <a:rPr lang="en-US" altLang="ko-KR">
                <a:sym typeface="Wingdings" panose="05000000000000000000" pitchFamily="2" charset="2"/>
              </a:rPr>
              <a:t>!</a:t>
            </a:r>
          </a:p>
          <a:p>
            <a:r>
              <a:rPr lang="en-US"/>
              <a:t>+ exercise</a:t>
            </a:r>
            <a:r>
              <a:rPr lang="ko-KR" altLang="en-US"/>
              <a:t> 를 통해 실제 제출을 여러 번 해보다보니</a:t>
            </a:r>
            <a:r>
              <a:rPr lang="en-US" altLang="ko-KR"/>
              <a:t>..</a:t>
            </a:r>
          </a:p>
          <a:p>
            <a:pPr lvl="1"/>
            <a:r>
              <a:rPr lang="en-US" altLang="ko-KR"/>
              <a:t>MAE(Mean Absolute Error)</a:t>
            </a:r>
            <a:r>
              <a:rPr lang="ko-KR" altLang="en-US"/>
              <a:t>를 기존 </a:t>
            </a:r>
            <a:r>
              <a:rPr lang="en-US" altLang="ko-KR"/>
              <a:t>21000 </a:t>
            </a:r>
            <a:r>
              <a:rPr lang="en-US" altLang="ko-KR">
                <a:sym typeface="Wingdings" panose="05000000000000000000" pitchFamily="2" charset="2"/>
              </a:rPr>
              <a:t> 20000  16000 (Intermediate 2/7</a:t>
            </a:r>
            <a:r>
              <a:rPr lang="ko-KR" altLang="en-US">
                <a:sym typeface="Wingdings" panose="05000000000000000000" pitchFamily="2" charset="2"/>
              </a:rPr>
              <a:t>째강의</a:t>
            </a:r>
            <a:r>
              <a:rPr lang="en-US" altLang="ko-KR">
                <a:sym typeface="Wingdings" panose="05000000000000000000" pitchFamily="2" charset="2"/>
              </a:rPr>
              <a:t>) </a:t>
            </a:r>
            <a:r>
              <a:rPr lang="ko-KR" altLang="en-US">
                <a:sym typeface="Wingdings" panose="05000000000000000000" pitchFamily="2" charset="2"/>
              </a:rPr>
              <a:t>으로 개선</a:t>
            </a:r>
            <a:r>
              <a:rPr lang="en-US" altLang="ko-KR">
                <a:sym typeface="Wingdings" panose="05000000000000000000" pitchFamily="2" charset="2"/>
              </a:rPr>
              <a:t>!</a:t>
            </a:r>
          </a:p>
          <a:p>
            <a:pPr lvl="1"/>
            <a:r>
              <a:rPr lang="en-US">
                <a:sym typeface="Wingdings" panose="05000000000000000000" pitchFamily="2" charset="2"/>
              </a:rPr>
              <a:t> </a:t>
            </a:r>
            <a:r>
              <a:rPr lang="ko-KR" altLang="en-US">
                <a:sym typeface="Wingdings" panose="05000000000000000000" pitchFamily="2" charset="2"/>
              </a:rPr>
              <a:t>배운 것을 토대로 실제로 집값 예측을 더 잘 할 수 있게 되었다</a:t>
            </a:r>
            <a:r>
              <a:rPr lang="en-US" altLang="ko-KR">
                <a:sym typeface="Wingdings" panose="05000000000000000000" pitchFamily="2" charset="2"/>
              </a:rPr>
              <a:t>.</a:t>
            </a:r>
          </a:p>
          <a:p>
            <a:pPr lvl="1"/>
            <a:r>
              <a:rPr lang="ko-KR" altLang="en-US">
                <a:sym typeface="Wingdings" panose="05000000000000000000" pitchFamily="2" charset="2"/>
              </a:rPr>
              <a:t>나중에 </a:t>
            </a:r>
            <a:r>
              <a:rPr lang="en-US" altLang="ko-KR">
                <a:sym typeface="Wingdings" panose="05000000000000000000" pitchFamily="2" charset="2"/>
              </a:rPr>
              <a:t>Pipelines, Cross-Validation, XGBoost </a:t>
            </a:r>
            <a:r>
              <a:rPr lang="ko-KR" altLang="en-US">
                <a:sym typeface="Wingdings" panose="05000000000000000000" pitchFamily="2" charset="2"/>
              </a:rPr>
              <a:t>를 배우고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>
                <a:sym typeface="Wingdings" panose="05000000000000000000" pitchFamily="2" charset="2"/>
              </a:rPr>
              <a:t>Feature Engineering</a:t>
            </a:r>
            <a:r>
              <a:rPr lang="ko-KR" altLang="en-US">
                <a:sym typeface="Wingdings" panose="05000000000000000000" pitchFamily="2" charset="2"/>
              </a:rPr>
              <a:t>에서 </a:t>
            </a:r>
            <a:r>
              <a:rPr lang="en-US" altLang="ko-KR">
                <a:sym typeface="Wingdings" panose="05000000000000000000" pitchFamily="2" charset="2"/>
              </a:rPr>
              <a:t>Mutual Information, K-Means clustering, PCA, Target Encoding </a:t>
            </a:r>
            <a:r>
              <a:rPr lang="ko-KR" altLang="en-US">
                <a:sym typeface="Wingdings" panose="05000000000000000000" pitchFamily="2" charset="2"/>
              </a:rPr>
              <a:t>등 이론적으로만 배웠던 것을 실전으로 적용 </a:t>
            </a:r>
            <a:r>
              <a:rPr lang="en-US" altLang="ko-KR">
                <a:sym typeface="Wingdings" panose="05000000000000000000" pitchFamily="2" charset="2"/>
              </a:rPr>
              <a:t>+ </a:t>
            </a:r>
            <a:r>
              <a:rPr lang="ko-KR" altLang="en-US">
                <a:sym typeface="Wingdings" panose="05000000000000000000" pitchFamily="2" charset="2"/>
              </a:rPr>
              <a:t>내 스킬로 만들고</a:t>
            </a:r>
            <a:endParaRPr lang="en-US" altLang="ko-KR">
              <a:sym typeface="Wingdings" panose="05000000000000000000" pitchFamily="2" charset="2"/>
            </a:endParaRPr>
          </a:p>
          <a:p>
            <a:pPr lvl="1"/>
            <a:r>
              <a:rPr lang="en-US"/>
              <a:t>Machine Learning Explainability </a:t>
            </a:r>
            <a:r>
              <a:rPr lang="ko-KR" altLang="en-US"/>
              <a:t>에서 </a:t>
            </a:r>
            <a:r>
              <a:rPr lang="en-US" altLang="ko-KR"/>
              <a:t>model insights </a:t>
            </a:r>
            <a:r>
              <a:rPr lang="ko-KR" altLang="en-US"/>
              <a:t>를 알아내는 방법을 배우고 배운 </a:t>
            </a:r>
            <a:r>
              <a:rPr lang="en-US" altLang="ko-KR"/>
              <a:t>ML </a:t>
            </a:r>
            <a:r>
              <a:rPr lang="ko-KR" altLang="en-US"/>
              <a:t>만드는 방법에 대한 </a:t>
            </a:r>
            <a:r>
              <a:rPr lang="en-US" altLang="ko-KR"/>
              <a:t>insights</a:t>
            </a:r>
            <a:r>
              <a:rPr lang="ko-KR" altLang="en-US"/>
              <a:t>를 정리하는 방법을 배우면</a:t>
            </a:r>
            <a:endParaRPr lang="en-US" altLang="ko-KR"/>
          </a:p>
          <a:p>
            <a:r>
              <a:rPr lang="ko-KR" altLang="en-US"/>
              <a:t>모두의 데이터 분석 능력 </a:t>
            </a:r>
            <a:r>
              <a:rPr lang="en-US" altLang="ko-KR"/>
              <a:t>/ insight</a:t>
            </a:r>
            <a:r>
              <a:rPr lang="ko-KR" altLang="en-US"/>
              <a:t>를 증진시킬 수 있을 것으로 보인다</a:t>
            </a:r>
            <a:r>
              <a:rPr lang="en-US" altLang="ko-KR"/>
              <a:t>.</a:t>
            </a:r>
          </a:p>
          <a:p>
            <a:r>
              <a:rPr lang="ko-KR" altLang="en-US"/>
              <a:t>이것이 너무 공유되는 이득이 작다고 한다면</a:t>
            </a:r>
            <a:r>
              <a:rPr lang="en-US" altLang="ko-KR"/>
              <a:t>… XGBoost</a:t>
            </a:r>
            <a:r>
              <a:rPr lang="ko-KR" altLang="en-US"/>
              <a:t>정도까지 하고 배운 것을 어느 정도 정리 </a:t>
            </a:r>
            <a:r>
              <a:rPr lang="en-US" altLang="ko-KR"/>
              <a:t>&amp; </a:t>
            </a:r>
            <a:r>
              <a:rPr lang="ko-KR" altLang="en-US"/>
              <a:t>전달할 수 있도록 다듬는 시간을 먼저 가진 뒤에 저걸 마저 해보도록 하자</a:t>
            </a:r>
            <a:r>
              <a:rPr lang="en-US" altLang="ko-KR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916989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E3A1A59-51EC-54ED-572D-1BA0F653F277}"/>
              </a:ext>
            </a:extLst>
          </p:cNvPr>
          <p:cNvSpPr txBox="1"/>
          <p:nvPr/>
        </p:nvSpPr>
        <p:spPr>
          <a:xfrm>
            <a:off x="2103120" y="2154064"/>
            <a:ext cx="6096000" cy="3647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/>
              <a:t>단 한두번 </a:t>
            </a:r>
            <a:r>
              <a:rPr lang="en-US" altLang="ko-KR" sz="1100"/>
              <a:t>kaggle competition</a:t>
            </a:r>
            <a:r>
              <a:rPr lang="ko-KR" altLang="en-US" sz="1100"/>
              <a:t>에 낼 노트북을 만들어보면서는 일단 이런걸 알게 되었어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1. </a:t>
            </a:r>
            <a:r>
              <a:rPr lang="ko-KR" altLang="en-US" sz="1100"/>
              <a:t>데이터가 </a:t>
            </a:r>
            <a:r>
              <a:rPr lang="en-US" altLang="ko-KR" sz="1100"/>
              <a:t>20% </a:t>
            </a:r>
            <a:r>
              <a:rPr lang="ko-KR" altLang="en-US" sz="1100"/>
              <a:t>이하로 </a:t>
            </a:r>
            <a:r>
              <a:rPr lang="en-US" altLang="ko-KR" sz="1100"/>
              <a:t>null</a:t>
            </a:r>
            <a:r>
              <a:rPr lang="ko-KR" altLang="en-US" sz="1100"/>
              <a:t>이면 </a:t>
            </a:r>
            <a:r>
              <a:rPr lang="en-US" altLang="ko-KR" sz="1100"/>
              <a:t>feature </a:t>
            </a:r>
            <a:r>
              <a:rPr lang="ko-KR" altLang="en-US" sz="1100"/>
              <a:t>선별 시 </a:t>
            </a:r>
            <a:r>
              <a:rPr lang="en-US" altLang="ko-KR" sz="1100"/>
              <a:t>null </a:t>
            </a:r>
            <a:r>
              <a:rPr lang="ko-KR" altLang="en-US" sz="1100"/>
              <a:t>비중을 크게 안 봐도 될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table </a:t>
            </a:r>
            <a:r>
              <a:rPr lang="ko-KR" altLang="en-US" sz="1100"/>
              <a:t>행 갯수에 비해 </a:t>
            </a:r>
            <a:r>
              <a:rPr lang="en-US" altLang="ko-KR" sz="1100"/>
              <a:t>null </a:t>
            </a:r>
            <a:r>
              <a:rPr lang="ko-KR" altLang="en-US" sz="1100"/>
              <a:t>비중이 </a:t>
            </a:r>
            <a:r>
              <a:rPr lang="en-US" altLang="ko-KR" sz="1100"/>
              <a:t>20%</a:t>
            </a:r>
            <a:r>
              <a:rPr lang="ko-KR" altLang="en-US" sz="1100"/>
              <a:t>정도나 되더라도 </a:t>
            </a:r>
            <a:r>
              <a:rPr lang="en-US" altLang="ko-KR" sz="1100"/>
              <a:t>input data</a:t>
            </a:r>
            <a:r>
              <a:rPr lang="ko-KR" altLang="en-US" sz="1100"/>
              <a:t>가 어떻게 어우러지면 </a:t>
            </a:r>
            <a:r>
              <a:rPr lang="en-US" altLang="ko-KR" sz="1100"/>
              <a:t>output</a:t>
            </a:r>
            <a:r>
              <a:rPr lang="ko-KR" altLang="en-US" sz="1100"/>
              <a:t>과 연동되겠다 싶은 </a:t>
            </a:r>
            <a:r>
              <a:rPr lang="en-US" altLang="ko-KR" sz="1100"/>
              <a:t>column</a:t>
            </a:r>
            <a:r>
              <a:rPr lang="ko-KR" altLang="en-US" sz="1100"/>
              <a:t>이 있을 때 그것을 근거로 해당 </a:t>
            </a:r>
            <a:r>
              <a:rPr lang="en-US" altLang="ko-KR" sz="1100"/>
              <a:t>column</a:t>
            </a:r>
            <a:r>
              <a:rPr lang="ko-KR" altLang="en-US" sz="1100"/>
              <a:t>을 </a:t>
            </a:r>
            <a:r>
              <a:rPr lang="en-US" altLang="ko-KR" sz="1100"/>
              <a:t>feature</a:t>
            </a:r>
            <a:r>
              <a:rPr lang="ko-KR" altLang="en-US" sz="1100"/>
              <a:t>로 잡을 수 있고 </a:t>
            </a:r>
            <a:r>
              <a:rPr lang="en-US" altLang="ko-KR" sz="1100"/>
              <a:t>(lotfrontage?? - </a:t>
            </a:r>
            <a:r>
              <a:rPr lang="ko-KR" altLang="en-US" sz="1100"/>
              <a:t>집값</a:t>
            </a:r>
            <a:r>
              <a:rPr lang="en-US" altLang="ko-KR" sz="1100"/>
              <a:t>)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거의 </a:t>
            </a:r>
            <a:r>
              <a:rPr lang="en-US" altLang="ko-KR" sz="1100"/>
              <a:t>1100</a:t>
            </a:r>
            <a:r>
              <a:rPr lang="ko-KR" altLang="en-US" sz="1100"/>
              <a:t>개 중 </a:t>
            </a:r>
            <a:r>
              <a:rPr lang="en-US" altLang="ko-KR" sz="1100"/>
              <a:t>70</a:t>
            </a:r>
            <a:r>
              <a:rPr lang="ko-KR" altLang="en-US" sz="1100"/>
              <a:t>개 이하만 </a:t>
            </a:r>
            <a:r>
              <a:rPr lang="en-US" altLang="ko-KR" sz="1100"/>
              <a:t>null</a:t>
            </a:r>
            <a:r>
              <a:rPr lang="ko-KR" altLang="en-US" sz="1100"/>
              <a:t>인 데이터라고 해도 </a:t>
            </a:r>
            <a:r>
              <a:rPr lang="en-US" altLang="ko-KR" sz="1100"/>
              <a:t>output</a:t>
            </a:r>
            <a:r>
              <a:rPr lang="ko-KR" altLang="en-US" sz="1100"/>
              <a:t>과의 큰 </a:t>
            </a:r>
            <a:r>
              <a:rPr lang="en-US" altLang="ko-KR" sz="1100"/>
              <a:t>'</a:t>
            </a:r>
            <a:r>
              <a:rPr lang="ko-KR" altLang="en-US" sz="1100"/>
              <a:t>상관관계</a:t>
            </a:r>
            <a:r>
              <a:rPr lang="en-US" altLang="ko-KR" sz="1100"/>
              <a:t>'?</a:t>
            </a:r>
            <a:r>
              <a:rPr lang="ko-KR" altLang="en-US" sz="1100"/>
              <a:t>가 없을 때 </a:t>
            </a:r>
            <a:r>
              <a:rPr lang="en-US" altLang="ko-KR" sz="1100"/>
              <a:t>(</a:t>
            </a:r>
            <a:r>
              <a:rPr lang="ko-KR" altLang="en-US" sz="1100"/>
              <a:t>차고를 언제 지었는가 </a:t>
            </a:r>
            <a:r>
              <a:rPr lang="en-US" altLang="ko-KR" sz="1100"/>
              <a:t>- </a:t>
            </a:r>
            <a:r>
              <a:rPr lang="ko-KR" altLang="en-US" sz="1100"/>
              <a:t>집값</a:t>
            </a:r>
            <a:r>
              <a:rPr lang="en-US" altLang="ko-KR" sz="1100"/>
              <a:t>) omit </a:t>
            </a:r>
            <a:r>
              <a:rPr lang="ko-KR" altLang="en-US" sz="1100"/>
              <a:t>하는게 더 성능을 올릴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2. ML</a:t>
            </a:r>
            <a:r>
              <a:rPr lang="ko-KR" altLang="en-US" sz="1100"/>
              <a:t>에서 </a:t>
            </a:r>
            <a:r>
              <a:rPr lang="en-US" altLang="ko-KR" sz="1100"/>
              <a:t>domain knowledge</a:t>
            </a:r>
            <a:r>
              <a:rPr lang="ko-KR" altLang="en-US" sz="1100"/>
              <a:t>는 매우 </a:t>
            </a:r>
            <a:r>
              <a:rPr lang="en-US" altLang="ko-KR" sz="1100"/>
              <a:t>powerful</a:t>
            </a:r>
            <a:r>
              <a:rPr lang="ko-KR" altLang="en-US" sz="1100"/>
              <a:t>하다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domain knowledge</a:t>
            </a:r>
            <a:r>
              <a:rPr lang="ko-KR" altLang="en-US" sz="1100"/>
              <a:t>를 깊이 알수록 입력과 출력 데이터 사이에 존재하는 관계를 더 잘 알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3. domain knowledge </a:t>
            </a:r>
            <a:r>
              <a:rPr lang="ko-KR" altLang="en-US" sz="1100"/>
              <a:t>를 잘 모르면 직관성 </a:t>
            </a:r>
            <a:r>
              <a:rPr lang="en-US" altLang="ko-KR" sz="1100"/>
              <a:t>(e.g. </a:t>
            </a:r>
            <a:r>
              <a:rPr lang="ko-KR" altLang="en-US" sz="1100"/>
              <a:t>차고 만든 년도가 집값이랑 별 상관이 없을 것 같다</a:t>
            </a:r>
            <a:r>
              <a:rPr lang="en-US" altLang="ko-KR" sz="1100"/>
              <a:t>) </a:t>
            </a:r>
            <a:r>
              <a:rPr lang="ko-KR" altLang="en-US" sz="1100"/>
              <a:t>과 </a:t>
            </a:r>
            <a:r>
              <a:rPr lang="en-US" altLang="ko-KR" sz="1100"/>
              <a:t>low-level </a:t>
            </a:r>
            <a:r>
              <a:rPr lang="ko-KR" altLang="en-US" sz="1100"/>
              <a:t>데이터 분석력 </a:t>
            </a:r>
            <a:r>
              <a:rPr lang="en-US" altLang="ko-KR" sz="1100"/>
              <a:t>(e.g. </a:t>
            </a:r>
            <a:r>
              <a:rPr lang="ko-KR" altLang="en-US" sz="1100"/>
              <a:t>상관관계 </a:t>
            </a:r>
            <a:r>
              <a:rPr lang="en-US" altLang="ko-KR" sz="1100"/>
              <a:t>/ </a:t>
            </a:r>
            <a:r>
              <a:rPr lang="ko-KR" altLang="en-US" sz="1100"/>
              <a:t>단일 </a:t>
            </a:r>
            <a:r>
              <a:rPr lang="en-US" altLang="ko-KR" sz="1100"/>
              <a:t>column </a:t>
            </a:r>
            <a:r>
              <a:rPr lang="ko-KR" altLang="en-US" sz="1100"/>
              <a:t>통계 등</a:t>
            </a:r>
            <a:r>
              <a:rPr lang="en-US" altLang="ko-KR" sz="1100"/>
              <a:t>)</a:t>
            </a:r>
            <a:r>
              <a:rPr lang="ko-KR" altLang="en-US" sz="1100"/>
              <a:t>이 뒷받침되어야 한다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'</a:t>
            </a:r>
            <a:r>
              <a:rPr lang="ko-KR" altLang="en-US" sz="1100"/>
              <a:t>관계</a:t>
            </a:r>
            <a:r>
              <a:rPr lang="en-US" altLang="ko-KR" sz="1100"/>
              <a:t>'</a:t>
            </a:r>
            <a:r>
              <a:rPr lang="ko-KR" altLang="en-US" sz="1100"/>
              <a:t>를 찾을 때는 먼저 각 </a:t>
            </a:r>
            <a:r>
              <a:rPr lang="en-US" altLang="ko-KR" sz="1100"/>
              <a:t>column</a:t>
            </a:r>
            <a:r>
              <a:rPr lang="ko-KR" altLang="en-US" sz="1100"/>
              <a:t>이 무엇을 의미하는지 명세서를 꼼꼼이 확인하고 그 다음에 </a:t>
            </a:r>
            <a:r>
              <a:rPr lang="en-US" altLang="ko-KR" sz="1100"/>
              <a:t>'</a:t>
            </a:r>
            <a:r>
              <a:rPr lang="ko-KR" altLang="en-US" sz="1100"/>
              <a:t>직관력</a:t>
            </a:r>
            <a:r>
              <a:rPr lang="en-US" altLang="ko-KR" sz="1100"/>
              <a:t>'</a:t>
            </a:r>
            <a:r>
              <a:rPr lang="ko-KR" altLang="en-US" sz="1100"/>
              <a:t>을 사용하자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잘 모를 때는 데이터를 먼저 분석하거나 전체적으로 훑어봐서 그 관계를 간접적으로나마 알 수 있다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4. </a:t>
            </a:r>
            <a:r>
              <a:rPr lang="ko-KR" altLang="en-US" sz="1100"/>
              <a:t>성공적으로 </a:t>
            </a:r>
            <a:r>
              <a:rPr lang="en-US" altLang="ko-KR" sz="1100"/>
              <a:t>ML </a:t>
            </a:r>
            <a:r>
              <a:rPr lang="ko-KR" altLang="en-US" sz="1100"/>
              <a:t>점수를 받는 행동을 반복하다 보면 직관성이 길러질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en-US" altLang="ko-KR" sz="1100"/>
              <a:t>- </a:t>
            </a:r>
            <a:r>
              <a:rPr lang="ko-KR" altLang="en-US" sz="1100"/>
              <a:t>실제 세계에서 특정 개념들 사이에 연관이 잘 되어있으니 </a:t>
            </a:r>
            <a:r>
              <a:rPr lang="en-US" altLang="ko-KR" sz="1100"/>
              <a:t>~~</a:t>
            </a:r>
            <a:r>
              <a:rPr lang="ko-KR" altLang="en-US" sz="1100"/>
              <a:t>하면 되겠다 하는 시뮬레이션 능력을 더 키울 수 있을 것 같다</a:t>
            </a:r>
            <a:r>
              <a:rPr lang="en-US" altLang="ko-KR" sz="1100"/>
              <a:t>.</a:t>
            </a:r>
          </a:p>
          <a:p>
            <a:pPr>
              <a:buNone/>
            </a:pPr>
            <a:r>
              <a:rPr lang="ko-KR" altLang="en-US" sz="1100"/>
              <a:t>그리고 분석 방법에 따라 데이터를 어떻게 정제</a:t>
            </a:r>
            <a:r>
              <a:rPr lang="en-US" altLang="ko-KR" sz="1100"/>
              <a:t>/</a:t>
            </a:r>
            <a:r>
              <a:rPr lang="ko-KR" altLang="en-US" sz="1100"/>
              <a:t>처리할지가 다 다르다고 생각했는데</a:t>
            </a:r>
            <a:r>
              <a:rPr lang="en-US" altLang="ko-KR" sz="1100"/>
              <a:t>, '</a:t>
            </a:r>
            <a:r>
              <a:rPr lang="ko-KR" altLang="en-US" sz="1100"/>
              <a:t>빈 데이터 처리</a:t>
            </a:r>
            <a:r>
              <a:rPr lang="en-US" altLang="ko-KR" sz="1100"/>
              <a:t>' </a:t>
            </a:r>
            <a:r>
              <a:rPr lang="ko-KR" altLang="en-US" sz="1100"/>
              <a:t>부분을 수강한 이후에는 이와 무관하게 </a:t>
            </a:r>
            <a:r>
              <a:rPr lang="en-US" altLang="ko-KR" sz="1100"/>
              <a:t>null </a:t>
            </a:r>
            <a:r>
              <a:rPr lang="ko-KR" altLang="en-US" sz="1100"/>
              <a:t>값을 어떻게 채울지와</a:t>
            </a:r>
            <a:r>
              <a:rPr lang="en-US" altLang="ko-KR" sz="1100"/>
              <a:t>, feature</a:t>
            </a:r>
            <a:r>
              <a:rPr lang="ko-KR" altLang="en-US" sz="1100"/>
              <a:t>에서 제외되는 </a:t>
            </a:r>
            <a:r>
              <a:rPr lang="en-US" altLang="ko-KR" sz="1100"/>
              <a:t>column</a:t>
            </a:r>
            <a:r>
              <a:rPr lang="ko-KR" altLang="en-US" sz="1100"/>
              <a:t>이 무엇인지를 결정할 수 있겠다는 생각이 들더라고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957C2209-279B-B078-00B4-7597A5892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5-260227 - Upday Project</a:t>
            </a:r>
            <a:r>
              <a:rPr lang="ko-KR" altLang="en-US"/>
              <a:t>의 방향성 고민</a:t>
            </a:r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4900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DC343-6E20-8B48-FF4A-F3A740588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6-260306 ML Intermediate 3/7~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2B34D8-B209-17DC-3041-B83A6BE668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6346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84EDF35-44AF-EF02-C485-DCEB49FA3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Categorical Variables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19260AD-4263-1602-3052-E4DB269CCF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Concepts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73243-78C8-2FC1-8F83-6B1F9C67007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Non-numeric variables with finite(limited) domain.</a:t>
            </a:r>
          </a:p>
          <a:p>
            <a:pPr lvl="1"/>
            <a:r>
              <a:rPr lang="en-US"/>
              <a:t>[Every day, Never, Rarely, Most days]</a:t>
            </a:r>
          </a:p>
          <a:p>
            <a:pPr lvl="1"/>
            <a:r>
              <a:rPr lang="en-US"/>
              <a:t>[Honda, Toyota, Ford]</a:t>
            </a:r>
          </a:p>
          <a:p>
            <a:r>
              <a:rPr lang="en-US"/>
              <a:t>Ordinality</a:t>
            </a:r>
          </a:p>
          <a:p>
            <a:pPr lvl="1"/>
            <a:r>
              <a:rPr lang="en-US"/>
              <a:t>Attribute of a column having an indisputable ranking in the domain.</a:t>
            </a:r>
          </a:p>
          <a:p>
            <a:r>
              <a:rPr lang="en-US"/>
              <a:t>Non-ordinal Categorical variables == </a:t>
            </a:r>
            <a:r>
              <a:rPr lang="en-US" b="1"/>
              <a:t>nominal</a:t>
            </a:r>
            <a:r>
              <a:rPr lang="en-US"/>
              <a:t> variables</a:t>
            </a:r>
          </a:p>
          <a:p>
            <a:r>
              <a:rPr lang="en-US"/>
              <a:t>“Cardinality”: size of the domain of the nominal variable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91F9060-CE0A-4520-488A-457FB8881C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Dealing them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606220-06BB-9E70-3FCA-F1CCC3636A52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/>
              <a:t>Drop Categorical Variables</a:t>
            </a:r>
          </a:p>
          <a:p>
            <a:pPr lvl="1"/>
            <a:r>
              <a:rPr lang="en-US"/>
              <a:t>If not useful, remove from the dataset</a:t>
            </a:r>
          </a:p>
          <a:p>
            <a:r>
              <a:rPr lang="en-US"/>
              <a:t>Ordinal Encoding</a:t>
            </a:r>
          </a:p>
          <a:p>
            <a:pPr lvl="1"/>
            <a:r>
              <a:rPr lang="en-US"/>
              <a:t>Assigns a number to the ordinal variable domain.</a:t>
            </a:r>
          </a:p>
          <a:p>
            <a:pPr lvl="2"/>
            <a:r>
              <a:rPr lang="en-US"/>
              <a:t>Never(0)&lt;Rarely(1)&lt;Most days(2)&lt;Every day(3)</a:t>
            </a:r>
          </a:p>
          <a:p>
            <a:pPr lvl="1"/>
            <a:r>
              <a:rPr lang="en-US"/>
              <a:t>Works well in </a:t>
            </a:r>
            <a:r>
              <a:rPr lang="en-US" b="1"/>
              <a:t>tree-based</a:t>
            </a:r>
            <a:r>
              <a:rPr lang="en-US"/>
              <a:t> models (e.g. decision trees and random forests)</a:t>
            </a:r>
          </a:p>
          <a:p>
            <a:r>
              <a:rPr lang="en-US"/>
              <a:t>One-Hot Encoding</a:t>
            </a:r>
          </a:p>
          <a:p>
            <a:pPr lvl="1"/>
            <a:r>
              <a:rPr lang="en-US"/>
              <a:t>Assign the presence of each value.</a:t>
            </a:r>
          </a:p>
          <a:p>
            <a:pPr lvl="1"/>
            <a:r>
              <a:rPr lang="en-US"/>
              <a:t>Apply for nominal values.</a:t>
            </a:r>
          </a:p>
          <a:p>
            <a:pPr lvl="1"/>
            <a:r>
              <a:rPr lang="en-US"/>
              <a:t>Does not perform well if the </a:t>
            </a:r>
            <a:r>
              <a:rPr lang="en-US" i="1"/>
              <a:t>cardinality</a:t>
            </a:r>
            <a:r>
              <a:rPr lang="en-US"/>
              <a:t> is large. (cardinality&gt;=15 </a:t>
            </a:r>
            <a:r>
              <a:rPr lang="en-US">
                <a:sym typeface="Wingdings" panose="05000000000000000000" pitchFamily="2" charset="2"/>
              </a:rPr>
              <a:t></a:t>
            </a:r>
            <a:r>
              <a:rPr lang="en-US"/>
              <a:t> OUT)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B5435F4-9D3A-C8D5-80A0-2E4D177773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9371" l="875" r="99213">
                        <a14:foregroundMark x1="12336" y1="9434" x2="12336" y2="9434"/>
                        <a14:foregroundMark x1="16710" y1="2935" x2="9886" y2="9853"/>
                        <a14:foregroundMark x1="9886" y1="9853" x2="8749" y2="83229"/>
                        <a14:foregroundMark x1="8749" y1="83229" x2="11374" y2="95597"/>
                        <a14:foregroundMark x1="11374" y1="95597" x2="17148" y2="83229"/>
                        <a14:foregroundMark x1="17148" y1="83229" x2="18373" y2="12579"/>
                        <a14:foregroundMark x1="18373" y1="12579" x2="15748" y2="1887"/>
                        <a14:foregroundMark x1="22310" y1="99790" x2="525" y2="98742"/>
                        <a14:foregroundMark x1="525" y1="98742" x2="612" y2="7547"/>
                        <a14:foregroundMark x1="612" y1="7547" x2="6737" y2="1048"/>
                        <a14:foregroundMark x1="6737" y1="1048" x2="19335" y2="839"/>
                        <a14:foregroundMark x1="19335" y1="839" x2="21222" y2="17142"/>
                        <a14:foregroundMark x1="22605" y1="72956" x2="22572" y2="99161"/>
                        <a14:foregroundMark x1="22614" y1="66083" x2="22613" y2="67086"/>
                        <a14:foregroundMark x1="21171" y1="99142" x2="350" y2="98742"/>
                        <a14:foregroundMark x1="350" y1="98742" x2="262" y2="7547"/>
                        <a14:foregroundMark x1="262" y1="7547" x2="8136" y2="419"/>
                        <a14:foregroundMark x1="8136" y1="419" x2="20910" y2="1468"/>
                        <a14:foregroundMark x1="20910" y1="1468" x2="21973" y2="7338"/>
                        <a14:foregroundMark x1="22650" y1="17228" x2="20472" y2="54507"/>
                        <a14:foregroundMark x1="9449" y1="4822" x2="6824" y2="6709"/>
                        <a14:foregroundMark x1="6737" y1="7757" x2="6737" y2="7757"/>
                        <a14:foregroundMark x1="5337" y1="12369" x2="5162" y2="13208"/>
                        <a14:foregroundMark x1="4637" y1="19078" x2="4637" y2="19078"/>
                        <a14:foregroundMark x1="4287" y1="27883" x2="4199" y2="28721"/>
                        <a14:foregroundMark x1="3937" y1="35010" x2="3937" y2="36478"/>
                        <a14:foregroundMark x1="4549" y1="43187" x2="4549" y2="45073"/>
                        <a14:foregroundMark x1="4899" y1="60797" x2="4899" y2="64570"/>
                        <a14:foregroundMark x1="4637" y1="76939" x2="4637" y2="76939"/>
                        <a14:foregroundMark x1="1487" y1="79665" x2="1487" y2="79665"/>
                        <a14:foregroundMark x1="875" y1="75891" x2="962" y2="69811"/>
                        <a14:foregroundMark x1="15311" y1="82390" x2="6212" y2="73585"/>
                        <a14:foregroundMark x1="6212" y1="73585" x2="12336" y2="66876"/>
                        <a14:foregroundMark x1="12336" y1="66876" x2="14436" y2="83019"/>
                        <a14:foregroundMark x1="14436" y1="83019" x2="12686" y2="84067"/>
                        <a14:foregroundMark x1="47944" y1="1048" x2="48381" y2="90985"/>
                        <a14:foregroundMark x1="48381" y1="90985" x2="51619" y2="99581"/>
                        <a14:foregroundMark x1="51619" y1="99581" x2="69204" y2="99790"/>
                        <a14:foregroundMark x1="69204" y1="99790" x2="99913" y2="99161"/>
                        <a14:foregroundMark x1="99913" y1="99161" x2="99300" y2="2306"/>
                        <a14:foregroundMark x1="99300" y1="2306" x2="47157" y2="0"/>
                        <a14:foregroundMark x1="14086" y1="22432" x2="14086" y2="22432"/>
                        <a14:foregroundMark x1="13561" y1="36688" x2="13561" y2="36688"/>
                        <a14:foregroundMark x1="14698" y1="24948" x2="14786" y2="24528"/>
                        <a14:foregroundMark x1="16360" y1="19497" x2="13036" y2="35849"/>
                        <a14:foregroundMark x1="13036" y1="35849" x2="12598" y2="49686"/>
                        <a14:foregroundMark x1="12598" y1="49686" x2="12598" y2="49686"/>
                        <a14:foregroundMark x1="17235" y1="20755" x2="2100" y2="43606"/>
                        <a14:foregroundMark x1="2100" y1="43606" x2="2187" y2="45283"/>
                        <a14:foregroundMark x1="14086" y1="22222" x2="11811" y2="53040"/>
                        <a14:foregroundMark x1="11811" y1="53040" x2="12511" y2="58281"/>
                        <a14:foregroundMark x1="12773" y1="58700" x2="7787" y2="47170"/>
                        <a14:foregroundMark x1="10936" y1="44025" x2="2275" y2="74633"/>
                        <a14:foregroundMark x1="9449" y1="65618" x2="9361" y2="88679"/>
                        <a14:foregroundMark x1="99213" y1="99371" x2="55556" y2="97275"/>
                        <a14:foregroundMark x1="55556" y1="97275" x2="49781" y2="79665"/>
                        <a14:foregroundMark x1="49781" y1="79665" x2="51619" y2="51363"/>
                        <a14:foregroundMark x1="51619" y1="51363" x2="57743" y2="32704"/>
                        <a14:foregroundMark x1="57743" y1="32704" x2="80752" y2="30398"/>
                        <a14:foregroundMark x1="80752" y1="30398" x2="90026" y2="51153"/>
                        <a14:foregroundMark x1="90026" y1="51153" x2="90114" y2="88889"/>
                        <a14:foregroundMark x1="94051" y1="88889" x2="84777" y2="91195"/>
                        <a14:foregroundMark x1="84777" y1="91195" x2="60630" y2="65409"/>
                        <a14:foregroundMark x1="60630" y1="65409" x2="76465" y2="52621"/>
                        <a14:foregroundMark x1="76465" y1="52621" x2="83115" y2="56394"/>
                        <a14:foregroundMark x1="84514" y1="83857" x2="69816" y2="75262"/>
                        <a14:foregroundMark x1="69816" y1="75262" x2="59230" y2="45073"/>
                        <a14:foregroundMark x1="74716" y1="51153" x2="74016" y2="52201"/>
                        <a14:foregroundMark x1="63255" y1="51153" x2="60630" y2="46122"/>
                        <a14:foregroundMark x1="53893" y1="37107" x2="53018" y2="35220"/>
                        <a14:foregroundMark x1="52843" y1="32704" x2="53106" y2="27883"/>
                        <a14:foregroundMark x1="57218" y1="21384" x2="57218" y2="21384"/>
                        <a14:foregroundMark x1="61155" y1="21803" x2="61155" y2="21803"/>
                        <a14:foregroundMark x1="54243" y1="21803" x2="52843" y2="20964"/>
                        <a14:foregroundMark x1="51444" y1="20545" x2="50656" y2="20126"/>
                        <a14:foregroundMark x1="55293" y1="27254" x2="55906" y2="27463"/>
                        <a14:foregroundMark x1="37358" y1="50314" x2="37358" y2="50314"/>
                        <a14:foregroundMark x1="21365" y1="15094" x2="21371" y2="17122"/>
                        <a14:foregroundMark x1="21360" y1="13208" x2="21365" y2="15094"/>
                        <a14:foregroundMark x1="21358" y1="12579" x2="21360" y2="13208"/>
                        <a14:foregroundMark x1="74803" y1="77358" x2="59143" y2="77358"/>
                        <a14:foregroundMark x1="59143" y1="77358" x2="56168" y2="66876"/>
                        <a14:foregroundMark x1="56168" y1="66876" x2="58268" y2="45912"/>
                        <a14:foregroundMark x1="58268" y1="45912" x2="80402" y2="21174"/>
                        <a14:foregroundMark x1="80402" y1="21174" x2="86877" y2="20126"/>
                        <a14:foregroundMark x1="86877" y1="20126" x2="92563" y2="34801"/>
                        <a14:foregroundMark x1="92563" y1="34801" x2="92126" y2="70440"/>
                        <a14:foregroundMark x1="92126" y1="70440" x2="91426" y2="75262"/>
                        <a14:foregroundMark x1="62992" y1="80084" x2="59055" y2="72117"/>
                        <a14:foregroundMark x1="59055" y1="72117" x2="54943" y2="49895"/>
                        <a14:foregroundMark x1="54943" y1="49895" x2="54856" y2="45283"/>
                        <a14:foregroundMark x1="21785" y1="5031" x2="21610" y2="20126"/>
                        <a14:foregroundMark x1="21785" y1="29350" x2="21435" y2="54507"/>
                        <a14:foregroundMark x1="22135" y1="45912" x2="22135" y2="45912"/>
                        <a14:foregroundMark x1="22135" y1="42767" x2="22135" y2="42767"/>
                        <a14:foregroundMark x1="21960" y1="38574" x2="21435" y2="32495"/>
                        <a14:foregroundMark x1="21960" y1="29979" x2="22397" y2="79874"/>
                        <a14:foregroundMark x1="21960" y1="27463" x2="21872" y2="34172"/>
                        <a14:foregroundMark x1="21960" y1="80713" x2="21960" y2="85115"/>
                        <a14:foregroundMark x1="22047" y1="85535" x2="22047" y2="85535"/>
                        <a14:foregroundMark x1="21785" y1="85115" x2="22047" y2="87421"/>
                        <a14:backgroundMark x1="23187" y1="12448" x2="24322" y2="16981"/>
                        <a14:backgroundMark x1="22474" y1="20184" x2="22649" y2="27515"/>
                        <a14:backgroundMark x1="22616" y1="87058" x2="22660" y2="99371"/>
                        <a14:backgroundMark x1="22592" y1="79864" x2="22595" y2="80713"/>
                        <a14:backgroundMark x1="47507" y1="839" x2="47507" y2="83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98073" y="216437"/>
            <a:ext cx="3888927" cy="16229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A2EDEE9-D5D1-AD43-7CBB-20BD5892962D}"/>
              </a:ext>
            </a:extLst>
          </p:cNvPr>
          <p:cNvSpPr txBox="1"/>
          <p:nvPr/>
        </p:nvSpPr>
        <p:spPr>
          <a:xfrm>
            <a:off x="1524" y="6492875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kaggle.com/code/alexisbcook/categorical-variables</a:t>
            </a:r>
          </a:p>
        </p:txBody>
      </p:sp>
    </p:spTree>
    <p:extLst>
      <p:ext uri="{BB962C8B-B14F-4D97-AF65-F5344CB8AC3E}">
        <p14:creationId xmlns:p14="http://schemas.microsoft.com/office/powerpoint/2010/main" val="6901606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25CE7-F44D-5AAD-C878-271881C0E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“Problematic” 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235F0B-1291-6C8D-11B8-AC4597E9E14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/>
              <a:t>Probably during EDA, we first have to specify the domain.</a:t>
            </a:r>
          </a:p>
          <a:p>
            <a:r>
              <a:rPr lang="en-US"/>
              <a:t>We could do something like this with</a:t>
            </a:r>
          </a:p>
          <a:p>
            <a:pPr lvl="1"/>
            <a:r>
              <a:rPr lang="en-US"/>
              <a:t>X['Condition2'].unique(), X_test[‘Condition2’].unique()</a:t>
            </a:r>
          </a:p>
          <a:p>
            <a:r>
              <a:rPr lang="en-US"/>
              <a:t>BUT…</a:t>
            </a:r>
          </a:p>
          <a:p>
            <a:pPr lvl="1"/>
            <a:r>
              <a:rPr lang="en-US"/>
              <a:t>X may NOT contain some values in X_test.</a:t>
            </a:r>
          </a:p>
          <a:p>
            <a:pPr lvl="1"/>
            <a:r>
              <a:rPr lang="en-US"/>
              <a:t>X_train may NOT contain some values in X_valid.</a:t>
            </a:r>
          </a:p>
          <a:p>
            <a:r>
              <a:rPr lang="en-US"/>
              <a:t>This could be troublesome… (NO ‘auto-ordinal encoder’ works here)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310421-5B2D-51F6-2AEF-7C89EC4BB0B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/>
              <a:t>뭐</a:t>
            </a:r>
            <a:r>
              <a:rPr lang="en-US" altLang="ko-KR"/>
              <a:t>, manual encoding </a:t>
            </a:r>
            <a:r>
              <a:rPr lang="ko-KR" altLang="en-US"/>
              <a:t>하면 사실 되긴 할텐데 음</a:t>
            </a:r>
            <a:r>
              <a:rPr lang="en-US" altLang="ko-KR"/>
              <a:t>… </a:t>
            </a:r>
            <a:r>
              <a:rPr lang="ko-KR" altLang="en-US"/>
              <a:t>난 </a:t>
            </a:r>
            <a:r>
              <a:rPr lang="en-US" altLang="ko-KR"/>
              <a:t>manual </a:t>
            </a:r>
            <a:r>
              <a:rPr lang="ko-KR" altLang="en-US"/>
              <a:t>하고싶긴 한데 흠</a:t>
            </a:r>
            <a:r>
              <a:rPr lang="en-US" altLang="ko-KR"/>
              <a:t>…</a:t>
            </a:r>
          </a:p>
          <a:p>
            <a:r>
              <a:rPr lang="ko-KR" altLang="en-US"/>
              <a:t>대충 알아보기 위해 </a:t>
            </a:r>
            <a:r>
              <a:rPr lang="en-US" altLang="ko-KR"/>
              <a:t>OrdinalEncoder</a:t>
            </a:r>
            <a:r>
              <a:rPr lang="ko-KR" altLang="en-US"/>
              <a:t>를 쓴다면</a:t>
            </a:r>
            <a:r>
              <a:rPr lang="en-US" altLang="ko-KR"/>
              <a:t>… fit</a:t>
            </a:r>
            <a:r>
              <a:rPr lang="ko-KR" altLang="en-US"/>
              <a:t>할 때 많은 </a:t>
            </a:r>
            <a:r>
              <a:rPr lang="en-US" altLang="ko-KR"/>
              <a:t>X~ </a:t>
            </a:r>
            <a:r>
              <a:rPr lang="ko-KR" altLang="en-US"/>
              <a:t>데이터를 놓도록 해보자</a:t>
            </a:r>
            <a:endParaRPr lang="en-US" altLang="ko-KR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AC5038-0599-AD69-4513-BA62164B3B6B}"/>
              </a:ext>
            </a:extLst>
          </p:cNvPr>
          <p:cNvSpPr txBox="1"/>
          <p:nvPr/>
        </p:nvSpPr>
        <p:spPr>
          <a:xfrm>
            <a:off x="6096000" y="5288340"/>
            <a:ext cx="6096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/>
              <a:t>from sklearn.preprocessing import OrdinalEncoder</a:t>
            </a:r>
          </a:p>
          <a:p>
            <a:endParaRPr lang="en-US" sz="1200"/>
          </a:p>
          <a:p>
            <a:r>
              <a:rPr lang="en-US" sz="1200"/>
              <a:t>ordinal_encoder = OrdinalEncoder()# Make copy to avoid changing original data</a:t>
            </a:r>
          </a:p>
          <a:p>
            <a:r>
              <a:rPr lang="en-US" sz="1200"/>
              <a:t>label_X_train = X_train.copy()</a:t>
            </a:r>
          </a:p>
          <a:p>
            <a:r>
              <a:rPr lang="en-US" sz="1200"/>
              <a:t>label_X_valid = X_valid.copy()</a:t>
            </a:r>
          </a:p>
          <a:p>
            <a:r>
              <a:rPr lang="en-US" sz="1200"/>
              <a:t>label_X_train[object_cols] = ordinal_encoder.fit_transform(X_train[object_cols])label_X_valid[object_cols] = ordinal_encoder.transform(X_valid[object_cols])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0614E39-779B-2436-CF4D-AED5248A3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1027" y="3687566"/>
            <a:ext cx="3017040" cy="1719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839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F388B2-A949-3D54-C846-B6ACFBAA17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A855448-1023-074D-DB4C-B84B9C9C53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08742" y="1825625"/>
            <a:ext cx="597451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647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F3223-B417-1860-327B-841C3DD1A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D89D8DA-1F6D-8422-E3F1-03055EC1E8F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4417" y="1825625"/>
            <a:ext cx="72031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6599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24514-8CD4-099C-FDFC-6218E5B74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6BA1224-4BAB-74BC-2E5D-BC71401471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7889" y="2186528"/>
            <a:ext cx="7316221" cy="362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6145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D3759-935A-3200-6AD2-E4B14A7C2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CC96942-8A6D-A43F-C738-6ABFD69A28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6468" y="2424686"/>
            <a:ext cx="7259063" cy="3153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9073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60E28-2CB3-4021-38E6-FD2DC1CC2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B3B3B59D-2DF0-3E0F-AE34-66D9529997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1679" y="3224898"/>
            <a:ext cx="7468642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9694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1622B-0D3F-89B7-0737-2C75B80E4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Feature Importance…!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F25AF81-3C4F-36E6-87CC-57F698E8DD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1690688"/>
            <a:ext cx="4910328" cy="25526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03ABE7-27EF-27D4-1CDD-FAC8DF1286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0" y="4924155"/>
            <a:ext cx="7449590" cy="1933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65103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56E04-5589-CD8F-1492-66866A9DF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E09D6-52AD-68A5-9BC1-E2BF3A65F9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810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40059-728D-5D93-A4E7-ED5CD43ED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3EA3E-0636-4EA5-0792-3926E4824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12155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AA7DC-B489-84B7-7337-D4ED0529C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CD2B0-1547-FB00-06CB-51DDE0693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45635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1CB053-E0FF-3E62-DC20-8E1C9B03C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9AE7D-5C6A-87D8-D503-452CD3D274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6970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2094</TotalTime>
  <Words>2049</Words>
  <Application>Microsoft Office PowerPoint</Application>
  <PresentationFormat>Widescreen</PresentationFormat>
  <Paragraphs>178</Paragraphs>
  <Slides>37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Wingdings</vt:lpstr>
      <vt:lpstr>Office Theme</vt:lpstr>
      <vt:lpstr>Kaggle!</vt:lpstr>
      <vt:lpstr>Contents</vt:lpstr>
      <vt:lpstr>What is Kaggle?</vt:lpstr>
      <vt:lpstr>Let’s do: Intro to Machine Learning!</vt:lpstr>
      <vt:lpstr>Kaggle Notebook?</vt:lpstr>
      <vt:lpstr>Kaggle Datasets?</vt:lpstr>
      <vt:lpstr>Download to the Notebook!</vt:lpstr>
      <vt:lpstr>Exercise!</vt:lpstr>
      <vt:lpstr>More Exercise! (exercises on what learned form the ‘learning website’)</vt:lpstr>
      <vt:lpstr>CLI code?</vt:lpstr>
      <vt:lpstr>TIP: Notebook sidebar tab 안보일 때!</vt:lpstr>
      <vt:lpstr>PowerPoint Presentation</vt:lpstr>
      <vt:lpstr>260206 - Kaggle Pandas Course</vt:lpstr>
      <vt:lpstr>인상적이었던 점 : 문제가 많이 불분명했다.  깊이 파다가 시간 + 머리 소모됨</vt:lpstr>
      <vt:lpstr>5번문제</vt:lpstr>
      <vt:lpstr>악랄한 6번 문제</vt:lpstr>
      <vt:lpstr>악랄한 6번 문제</vt:lpstr>
      <vt:lpstr>악랄한 6번 문제</vt:lpstr>
      <vt:lpstr>실제 문장을 보고 더욱 기겁함 (2차기겁)</vt:lpstr>
      <vt:lpstr>힌트 보고 3차기겁</vt:lpstr>
      <vt:lpstr>답 틀린 에러 메시지 보고 4차기겁 (Q2.이슈)</vt:lpstr>
      <vt:lpstr>악랄한 6번 문제</vt:lpstr>
      <vt:lpstr>4-260220 - Kaggle Intermediate ML Course</vt:lpstr>
      <vt:lpstr>5-260227 - Upday Project의 방향성 고민 </vt:lpstr>
      <vt:lpstr>6-260306 ML Intermediate 3/7~</vt:lpstr>
      <vt:lpstr>Categorical Variables</vt:lpstr>
      <vt:lpstr>“Problematic” Categorical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Feature Importance…!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ins 9</dc:creator>
  <cp:lastModifiedBy>ins 9</cp:lastModifiedBy>
  <cp:revision>64</cp:revision>
  <dcterms:created xsi:type="dcterms:W3CDTF">2026-01-30T00:08:35Z</dcterms:created>
  <dcterms:modified xsi:type="dcterms:W3CDTF">2026-03-20T08:13:33Z</dcterms:modified>
</cp:coreProperties>
</file>